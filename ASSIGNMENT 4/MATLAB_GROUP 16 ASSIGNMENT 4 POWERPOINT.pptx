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7"/>
  </p:notesMasterIdLst>
  <p:sldIdLst>
    <p:sldId id="256" r:id="rId2"/>
    <p:sldId id="257" r:id="rId3"/>
    <p:sldId id="259" r:id="rId4"/>
    <p:sldId id="260" r:id="rId5"/>
    <p:sldId id="275" r:id="rId6"/>
    <p:sldId id="276" r:id="rId7"/>
    <p:sldId id="277" r:id="rId8"/>
    <p:sldId id="278" r:id="rId9"/>
    <p:sldId id="279" r:id="rId10"/>
    <p:sldId id="280" r:id="rId11"/>
    <p:sldId id="281" r:id="rId12"/>
    <p:sldId id="282" r:id="rId13"/>
    <p:sldId id="283" r:id="rId14"/>
    <p:sldId id="284" r:id="rId15"/>
    <p:sldId id="28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883"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EE4993-02C8-4FA4-B0C0-D16F521A99BE}"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EFF1B2-3EC0-4CA9-A8A6-56DFCA6B1FFF}" type="slidenum">
              <a:rPr lang="en-US" smtClean="0"/>
              <a:t>‹#›</a:t>
            </a:fld>
            <a:endParaRPr lang="en-US"/>
          </a:p>
        </p:txBody>
      </p:sp>
    </p:spTree>
    <p:extLst>
      <p:ext uri="{BB962C8B-B14F-4D97-AF65-F5344CB8AC3E}">
        <p14:creationId xmlns:p14="http://schemas.microsoft.com/office/powerpoint/2010/main" val="4292524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423029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5204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715522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153622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8" name="Footer Placeholder 7"/>
          <p:cNvSpPr>
            <a:spLocks noGrp="1"/>
          </p:cNvSpPr>
          <p:nvPr>
            <p:ph type="ftr" sz="quarter" idx="11"/>
          </p:nvPr>
        </p:nvSpPr>
        <p:spPr/>
        <p:txBody>
          <a:bodyPr/>
          <a:lstStyle/>
          <a:p>
            <a:endParaRPr lang="en-UG" dirty="0"/>
          </a:p>
        </p:txBody>
      </p:sp>
      <p:sp>
        <p:nvSpPr>
          <p:cNvPr id="9" name="Slide Number Placeholder 8"/>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927540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4" name="Footer Placeholder 3"/>
          <p:cNvSpPr>
            <a:spLocks noGrp="1"/>
          </p:cNvSpPr>
          <p:nvPr>
            <p:ph type="ftr" sz="quarter" idx="11"/>
          </p:nvPr>
        </p:nvSpPr>
        <p:spPr/>
        <p:txBody>
          <a:bodyPr/>
          <a:lstStyle/>
          <a:p>
            <a:endParaRPr lang="en-UG" dirty="0"/>
          </a:p>
        </p:txBody>
      </p:sp>
      <p:sp>
        <p:nvSpPr>
          <p:cNvPr id="5" name="Slide Number Placeholder 4"/>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241676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3" name="Footer Placeholder 2"/>
          <p:cNvSpPr>
            <a:spLocks noGrp="1"/>
          </p:cNvSpPr>
          <p:nvPr>
            <p:ph type="ftr" sz="quarter" idx="11"/>
          </p:nvPr>
        </p:nvSpPr>
        <p:spPr/>
        <p:txBody>
          <a:bodyPr/>
          <a:lstStyle/>
          <a:p>
            <a:endParaRPr lang="en-UG" dirty="0"/>
          </a:p>
        </p:txBody>
      </p:sp>
      <p:sp>
        <p:nvSpPr>
          <p:cNvPr id="4" name="Slide Number Placeholder 3"/>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4260062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4285598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853887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1241191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26642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53142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93419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049123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9188417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21/10/2025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1062094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9035DA8-7389-492B-8586-63D3F496E9F3}" type="datetimeFigureOut">
              <a:rPr lang="en-UG" smtClean="0"/>
              <a:t>21/10/2025</a:t>
            </a:fld>
            <a:endParaRPr lang="en-UG"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G"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B14D1F6C-92F9-40DD-970C-12E8E221DC95}" type="slidenum">
              <a:rPr lang="en-UG" smtClean="0"/>
              <a:t>‹#›</a:t>
            </a:fld>
            <a:endParaRPr lang="en-UG" dirty="0"/>
          </a:p>
        </p:txBody>
      </p:sp>
    </p:spTree>
    <p:extLst>
      <p:ext uri="{BB962C8B-B14F-4D97-AF65-F5344CB8AC3E}">
        <p14:creationId xmlns:p14="http://schemas.microsoft.com/office/powerpoint/2010/main" val="254176362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github.com/wangusid22/WANGUSI-DAVID.git" TargetMode="External"/><Relationship Id="rId3" Type="http://schemas.openxmlformats.org/officeDocument/2006/relationships/hyperlink" Target="https://github.com/Chemonges-mikirar/Chemonges" TargetMode="External"/><Relationship Id="rId7" Type="http://schemas.openxmlformats.org/officeDocument/2006/relationships/hyperlink" Target="https://github.com/oulesadock25/Oule-Sadock-.git" TargetMode="External"/><Relationship Id="rId2" Type="http://schemas.openxmlformats.org/officeDocument/2006/relationships/hyperlink" Target="https://github.com/kabweruandrew39-alt/Andrew.git" TargetMode="External"/><Relationship Id="rId1" Type="http://schemas.openxmlformats.org/officeDocument/2006/relationships/slideLayout" Target="../slideLayouts/slideLayout2.xml"/><Relationship Id="rId6" Type="http://schemas.openxmlformats.org/officeDocument/2006/relationships/hyperlink" Target="https://github.com/joysanyu22-cell/SANYU-JOY.git" TargetMode="External"/><Relationship Id="rId11" Type="http://schemas.openxmlformats.org/officeDocument/2006/relationships/hyperlink" Target="https://github.com/leonardkitutu1-hue/leonard-kitutu.git" TargetMode="External"/><Relationship Id="rId5" Type="http://schemas.openxmlformats.org/officeDocument/2006/relationships/hyperlink" Target="https://github.com/JOHNDIKITAL/johndikitalmatlab.git" TargetMode="External"/><Relationship Id="rId10" Type="http://schemas.openxmlformats.org/officeDocument/2006/relationships/hyperlink" Target="https://github.com/mildredmoreen/ATYANG-MILDRED-.git" TargetMode="External"/><Relationship Id="rId4" Type="http://schemas.openxmlformats.org/officeDocument/2006/relationships/hyperlink" Target="https://github.com/Nagasharitah/Nagasha-Ritta.git" TargetMode="External"/><Relationship Id="rId9" Type="http://schemas.openxmlformats.org/officeDocument/2006/relationships/hyperlink" Target="https://github.com/SebyatikaColline/Sebyatika-Colline.gi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D1EA-DCF0-B7FC-72E4-ADB92D300DA4}"/>
              </a:ext>
            </a:extLst>
          </p:cNvPr>
          <p:cNvSpPr>
            <a:spLocks noGrp="1"/>
          </p:cNvSpPr>
          <p:nvPr>
            <p:ph type="ctrTitle"/>
          </p:nvPr>
        </p:nvSpPr>
        <p:spPr>
          <a:xfrm>
            <a:off x="1507067" y="1782698"/>
            <a:ext cx="7766936" cy="1646302"/>
          </a:xfrm>
        </p:spPr>
        <p:txBody>
          <a:bodyPr/>
          <a:lstStyle/>
          <a:p>
            <a:r>
              <a:rPr lang="en-US" dirty="0">
                <a:solidFill>
                  <a:schemeClr val="tx1"/>
                </a:solidFill>
              </a:rPr>
              <a:t>MATLAB ASSIGNMENT 4</a:t>
            </a:r>
            <a:endParaRPr lang="en-UG" dirty="0">
              <a:solidFill>
                <a:schemeClr val="tx1"/>
              </a:solidFill>
            </a:endParaRPr>
          </a:p>
        </p:txBody>
      </p:sp>
      <p:sp>
        <p:nvSpPr>
          <p:cNvPr id="3" name="Subtitle 2">
            <a:extLst>
              <a:ext uri="{FF2B5EF4-FFF2-40B4-BE49-F238E27FC236}">
                <a16:creationId xmlns:a16="http://schemas.microsoft.com/office/drawing/2014/main" id="{ACD7C6C8-6746-D4F5-A97C-1107C43350CD}"/>
              </a:ext>
            </a:extLst>
          </p:cNvPr>
          <p:cNvSpPr>
            <a:spLocks noGrp="1"/>
          </p:cNvSpPr>
          <p:nvPr>
            <p:ph type="subTitle" idx="1"/>
          </p:nvPr>
        </p:nvSpPr>
        <p:spPr>
          <a:xfrm>
            <a:off x="1507067" y="3639353"/>
            <a:ext cx="7766936" cy="1096899"/>
          </a:xfrm>
        </p:spPr>
        <p:txBody>
          <a:bodyPr/>
          <a:lstStyle/>
          <a:p>
            <a:r>
              <a:rPr lang="en-US" dirty="0">
                <a:solidFill>
                  <a:schemeClr val="tx1"/>
                </a:solidFill>
              </a:rPr>
              <a:t>GROUP 16</a:t>
            </a:r>
            <a:endParaRPr lang="en-UG" dirty="0">
              <a:solidFill>
                <a:schemeClr val="tx1"/>
              </a:solidFill>
            </a:endParaRPr>
          </a:p>
        </p:txBody>
      </p:sp>
    </p:spTree>
    <p:extLst>
      <p:ext uri="{BB962C8B-B14F-4D97-AF65-F5344CB8AC3E}">
        <p14:creationId xmlns:p14="http://schemas.microsoft.com/office/powerpoint/2010/main" val="2336355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9B9AA-388A-7E40-4A1F-BEB8F43EED78}"/>
              </a:ext>
            </a:extLst>
          </p:cNvPr>
          <p:cNvSpPr>
            <a:spLocks noGrp="1"/>
          </p:cNvSpPr>
          <p:nvPr>
            <p:ph type="title"/>
          </p:nvPr>
        </p:nvSpPr>
        <p:spPr>
          <a:xfrm>
            <a:off x="713910" y="408432"/>
            <a:ext cx="8596668" cy="1320800"/>
          </a:xfrm>
        </p:spPr>
        <p:txBody>
          <a:bodyPr/>
          <a:lstStyle/>
          <a:p>
            <a:r>
              <a:rPr lang="en-US" dirty="0">
                <a:solidFill>
                  <a:schemeClr val="tx1"/>
                </a:solidFill>
              </a:rPr>
              <a:t>GROUP 16 MEMBERS</a:t>
            </a:r>
            <a:endParaRPr lang="en-UG" dirty="0">
              <a:solidFill>
                <a:schemeClr val="tx1"/>
              </a:solidFill>
            </a:endParaRPr>
          </a:p>
        </p:txBody>
      </p:sp>
      <p:graphicFrame>
        <p:nvGraphicFramePr>
          <p:cNvPr id="5" name="Content Placeholder 4">
            <a:extLst>
              <a:ext uri="{FF2B5EF4-FFF2-40B4-BE49-F238E27FC236}">
                <a16:creationId xmlns:a16="http://schemas.microsoft.com/office/drawing/2014/main" id="{65B6B581-ECDC-4935-8CC1-2563A89987D3}"/>
              </a:ext>
            </a:extLst>
          </p:cNvPr>
          <p:cNvGraphicFramePr>
            <a:graphicFrameLocks noGrp="1"/>
          </p:cNvGraphicFramePr>
          <p:nvPr>
            <p:ph idx="1"/>
            <p:extLst>
              <p:ext uri="{D42A27DB-BD31-4B8C-83A1-F6EECF244321}">
                <p14:modId xmlns:p14="http://schemas.microsoft.com/office/powerpoint/2010/main" val="2578104904"/>
              </p:ext>
            </p:extLst>
          </p:nvPr>
        </p:nvGraphicFramePr>
        <p:xfrm>
          <a:off x="1001641" y="1359071"/>
          <a:ext cx="8308937" cy="5011908"/>
        </p:xfrm>
        <a:graphic>
          <a:graphicData uri="http://schemas.openxmlformats.org/drawingml/2006/table">
            <a:tbl>
              <a:tblPr firstRow="1" firstCol="1" bandRow="1">
                <a:tableStyleId>{5C22544A-7EE6-4342-B048-85BDC9FD1C3A}</a:tableStyleId>
              </a:tblPr>
              <a:tblGrid>
                <a:gridCol w="420332">
                  <a:extLst>
                    <a:ext uri="{9D8B030D-6E8A-4147-A177-3AD203B41FA5}">
                      <a16:colId xmlns:a16="http://schemas.microsoft.com/office/drawing/2014/main" val="932862360"/>
                    </a:ext>
                  </a:extLst>
                </a:gridCol>
                <a:gridCol w="1334097">
                  <a:extLst>
                    <a:ext uri="{9D8B030D-6E8A-4147-A177-3AD203B41FA5}">
                      <a16:colId xmlns:a16="http://schemas.microsoft.com/office/drawing/2014/main" val="62752626"/>
                    </a:ext>
                  </a:extLst>
                </a:gridCol>
                <a:gridCol w="1446561">
                  <a:extLst>
                    <a:ext uri="{9D8B030D-6E8A-4147-A177-3AD203B41FA5}">
                      <a16:colId xmlns:a16="http://schemas.microsoft.com/office/drawing/2014/main" val="175901040"/>
                    </a:ext>
                  </a:extLst>
                </a:gridCol>
                <a:gridCol w="725389">
                  <a:extLst>
                    <a:ext uri="{9D8B030D-6E8A-4147-A177-3AD203B41FA5}">
                      <a16:colId xmlns:a16="http://schemas.microsoft.com/office/drawing/2014/main" val="3463949964"/>
                    </a:ext>
                  </a:extLst>
                </a:gridCol>
                <a:gridCol w="457585">
                  <a:extLst>
                    <a:ext uri="{9D8B030D-6E8A-4147-A177-3AD203B41FA5}">
                      <a16:colId xmlns:a16="http://schemas.microsoft.com/office/drawing/2014/main" val="1520390819"/>
                    </a:ext>
                  </a:extLst>
                </a:gridCol>
                <a:gridCol w="3924973">
                  <a:extLst>
                    <a:ext uri="{9D8B030D-6E8A-4147-A177-3AD203B41FA5}">
                      <a16:colId xmlns:a16="http://schemas.microsoft.com/office/drawing/2014/main" val="3511333902"/>
                    </a:ext>
                  </a:extLst>
                </a:gridCol>
              </a:tblGrid>
              <a:tr h="455628">
                <a:tc>
                  <a:txBody>
                    <a:bodyPr/>
                    <a:lstStyle/>
                    <a:p>
                      <a:pPr marL="0" marR="0" algn="just">
                        <a:lnSpc>
                          <a:spcPct val="115000"/>
                        </a:lnSpc>
                        <a:spcBef>
                          <a:spcPts val="0"/>
                        </a:spcBef>
                        <a:spcAft>
                          <a:spcPts val="0"/>
                        </a:spcAft>
                      </a:pPr>
                      <a:r>
                        <a:rPr lang="en-US" sz="1200" kern="100">
                          <a:effectLst/>
                        </a:rPr>
                        <a:t>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dirty="0">
                          <a:effectLst/>
                        </a:rPr>
                        <a:t>STUDENT NAME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REG. 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COURSE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SEX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GITHUB LINK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5369077"/>
                  </a:ext>
                </a:extLst>
              </a:tr>
              <a:tr h="455628">
                <a:tc>
                  <a:txBody>
                    <a:bodyPr/>
                    <a:lstStyle/>
                    <a:p>
                      <a:pPr marL="0" marR="0" algn="just">
                        <a:lnSpc>
                          <a:spcPct val="115000"/>
                        </a:lnSpc>
                        <a:spcBef>
                          <a:spcPts val="0"/>
                        </a:spcBef>
                        <a:spcAft>
                          <a:spcPts val="0"/>
                        </a:spcAft>
                      </a:pPr>
                      <a:r>
                        <a:rPr lang="en-US" sz="1200" kern="100">
                          <a:effectLst/>
                        </a:rPr>
                        <a:t>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KABWERU ANDREW</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BU/UG/2024/5057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2"/>
                        </a:rPr>
                        <a:t>https://github.com/kabweruandrew39-alt/Andrew.git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8981123"/>
                  </a:ext>
                </a:extLst>
              </a:tr>
              <a:tr h="455628">
                <a:tc>
                  <a:txBody>
                    <a:bodyPr/>
                    <a:lstStyle/>
                    <a:p>
                      <a:pPr marL="0" marR="0" algn="just">
                        <a:lnSpc>
                          <a:spcPct val="115000"/>
                        </a:lnSpc>
                        <a:spcBef>
                          <a:spcPts val="0"/>
                        </a:spcBef>
                        <a:spcAft>
                          <a:spcPts val="0"/>
                        </a:spcAft>
                      </a:pPr>
                      <a:r>
                        <a:rPr lang="en-US" sz="1200" kern="100">
                          <a:effectLst/>
                        </a:rPr>
                        <a:t>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CHEMONGES MIKIRAR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BU/UP/2024/1005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3"/>
                        </a:rPr>
                        <a:t>https://github.com/Chemonges-mikirar/Chemonges</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8789875"/>
                  </a:ext>
                </a:extLst>
              </a:tr>
              <a:tr h="455628">
                <a:tc>
                  <a:txBody>
                    <a:bodyPr/>
                    <a:lstStyle/>
                    <a:p>
                      <a:pPr marL="0" marR="0" algn="just">
                        <a:lnSpc>
                          <a:spcPct val="115000"/>
                        </a:lnSpc>
                        <a:spcBef>
                          <a:spcPts val="0"/>
                        </a:spcBef>
                        <a:spcAft>
                          <a:spcPts val="0"/>
                        </a:spcAft>
                      </a:pPr>
                      <a:r>
                        <a:rPr lang="en-US" sz="1200" kern="100">
                          <a:effectLst/>
                        </a:rPr>
                        <a:t>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NAGASHA RITTA</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BU/UG/2024/5055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AMI</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F</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4"/>
                        </a:rPr>
                        <a:t>https://github.com/Nagasharitah/Nagasha-Ritta.git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4871901"/>
                  </a:ext>
                </a:extLst>
              </a:tr>
              <a:tr h="455628">
                <a:tc>
                  <a:txBody>
                    <a:bodyPr/>
                    <a:lstStyle/>
                    <a:p>
                      <a:pPr marL="0" marR="0" algn="just">
                        <a:lnSpc>
                          <a:spcPct val="115000"/>
                        </a:lnSpc>
                        <a:spcBef>
                          <a:spcPts val="0"/>
                        </a:spcBef>
                        <a:spcAft>
                          <a:spcPts val="0"/>
                        </a:spcAft>
                      </a:pPr>
                      <a:r>
                        <a:rPr lang="en-US" sz="1200" kern="100">
                          <a:effectLst/>
                        </a:rPr>
                        <a:t>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DIKITAL JOHN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BU/UP/2024/1125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5"/>
                        </a:rPr>
                        <a:t>https://github.com/JOHNDIKITAL/johndikitalmatlab.git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819763"/>
                  </a:ext>
                </a:extLst>
              </a:tr>
              <a:tr h="455628">
                <a:tc>
                  <a:txBody>
                    <a:bodyPr/>
                    <a:lstStyle/>
                    <a:p>
                      <a:pPr marL="0" marR="0" algn="just">
                        <a:lnSpc>
                          <a:spcPct val="115000"/>
                        </a:lnSpc>
                        <a:spcBef>
                          <a:spcPts val="0"/>
                        </a:spcBef>
                        <a:spcAft>
                          <a:spcPts val="0"/>
                        </a:spcAft>
                      </a:pPr>
                      <a:r>
                        <a:rPr lang="en-US" sz="1200" kern="100">
                          <a:effectLst/>
                        </a:rPr>
                        <a:t>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SANYU JOY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BU/UP/2024/5348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MEB</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F</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6"/>
                        </a:rPr>
                        <a:t>https://github.com/joysanyu22-cell/SANYU-JOY.git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2364221"/>
                  </a:ext>
                </a:extLst>
              </a:tr>
              <a:tr h="455628">
                <a:tc>
                  <a:txBody>
                    <a:bodyPr/>
                    <a:lstStyle/>
                    <a:p>
                      <a:pPr marL="0" marR="0" algn="just">
                        <a:lnSpc>
                          <a:spcPct val="115000"/>
                        </a:lnSpc>
                        <a:spcBef>
                          <a:spcPts val="0"/>
                        </a:spcBef>
                        <a:spcAft>
                          <a:spcPts val="0"/>
                        </a:spcAft>
                      </a:pPr>
                      <a:r>
                        <a:rPr lang="en-US" sz="1200" kern="100">
                          <a:effectLst/>
                        </a:rPr>
                        <a:t>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OULE SADOCK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BU/UP/2024/0844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AMI</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7"/>
                        </a:rPr>
                        <a:t>https://github.com/oulesadock25/Oule-Sadock-.git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9730380"/>
                  </a:ext>
                </a:extLst>
              </a:tr>
              <a:tr h="455628">
                <a:tc>
                  <a:txBody>
                    <a:bodyPr/>
                    <a:lstStyle/>
                    <a:p>
                      <a:pPr marL="0" marR="0" algn="just">
                        <a:lnSpc>
                          <a:spcPct val="115000"/>
                        </a:lnSpc>
                        <a:spcBef>
                          <a:spcPts val="0"/>
                        </a:spcBef>
                        <a:spcAft>
                          <a:spcPts val="0"/>
                        </a:spcAft>
                      </a:pPr>
                      <a:r>
                        <a:rPr lang="en-US" sz="1200" kern="100">
                          <a:effectLst/>
                        </a:rPr>
                        <a:t>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WANGUSI DAVID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BU/UP/2024/5350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MEB</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8"/>
                        </a:rPr>
                        <a:t>https://github.com/wangusid22/WANGUSI-DAVID.git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1068715"/>
                  </a:ext>
                </a:extLst>
              </a:tr>
              <a:tr h="455628">
                <a:tc>
                  <a:txBody>
                    <a:bodyPr/>
                    <a:lstStyle/>
                    <a:p>
                      <a:pPr marL="0" marR="0" algn="just">
                        <a:lnSpc>
                          <a:spcPct val="115000"/>
                        </a:lnSpc>
                        <a:spcBef>
                          <a:spcPts val="0"/>
                        </a:spcBef>
                        <a:spcAft>
                          <a:spcPts val="0"/>
                        </a:spcAft>
                      </a:pPr>
                      <a:r>
                        <a:rPr lang="en-US" sz="1200" kern="100">
                          <a:effectLst/>
                        </a:rPr>
                        <a:t>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SEBATIKA COLLINE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BU/UP/2024/0845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AMI</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0">
                          <a:effectLst/>
                          <a:hlinkClick r:id="rId9"/>
                        </a:rPr>
                        <a:t>https://github.com/SebyatikaColline/Sebyatika-Colline.git</a:t>
                      </a:r>
                      <a:r>
                        <a:rPr lang="en-US" sz="1200" kern="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9032801"/>
                  </a:ext>
                </a:extLst>
              </a:tr>
              <a:tr h="455628">
                <a:tc>
                  <a:txBody>
                    <a:bodyPr/>
                    <a:lstStyle/>
                    <a:p>
                      <a:pPr marL="0" marR="0" algn="just">
                        <a:lnSpc>
                          <a:spcPct val="115000"/>
                        </a:lnSpc>
                        <a:spcBef>
                          <a:spcPts val="0"/>
                        </a:spcBef>
                        <a:spcAft>
                          <a:spcPts val="0"/>
                        </a:spcAft>
                      </a:pPr>
                      <a:r>
                        <a:rPr lang="en-US" sz="1200" kern="100">
                          <a:effectLst/>
                        </a:rPr>
                        <a:t>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ATYANG MILDRED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BU/UP/2024/1019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F</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a:effectLst/>
                          <a:hlinkClick r:id="rId10"/>
                        </a:rPr>
                        <a:t>https://github.com/mildredmoreen/ATYANG-MILDRED-.git</a:t>
                      </a: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4960028"/>
                  </a:ext>
                </a:extLst>
              </a:tr>
              <a:tr h="455628">
                <a:tc>
                  <a:txBody>
                    <a:bodyPr/>
                    <a:lstStyle/>
                    <a:p>
                      <a:pPr marL="0" marR="0" algn="just">
                        <a:lnSpc>
                          <a:spcPct val="115000"/>
                        </a:lnSpc>
                        <a:spcBef>
                          <a:spcPts val="0"/>
                        </a:spcBef>
                        <a:spcAft>
                          <a:spcPts val="0"/>
                        </a:spcAft>
                      </a:pPr>
                      <a:r>
                        <a:rPr lang="en-US" sz="1200" kern="100">
                          <a:effectLst/>
                        </a:rPr>
                        <a:t>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KITUTU LEONARD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0">
                          <a:effectLst/>
                        </a:rPr>
                        <a:t>BU/UP/2024/1035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WAR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kern="100">
                          <a:effectLst/>
                        </a:rPr>
                        <a:t>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1200" u="sng" kern="100" dirty="0">
                          <a:effectLst/>
                          <a:hlinkClick r:id="rId11"/>
                        </a:rPr>
                        <a:t>https://github.com/leonardkitutu1-hue/leonard-kitutu.git</a:t>
                      </a: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8210104"/>
                  </a:ext>
                </a:extLst>
              </a:tr>
            </a:tbl>
          </a:graphicData>
        </a:graphic>
      </p:graphicFrame>
    </p:spTree>
    <p:extLst>
      <p:ext uri="{BB962C8B-B14F-4D97-AF65-F5344CB8AC3E}">
        <p14:creationId xmlns:p14="http://schemas.microsoft.com/office/powerpoint/2010/main" val="57487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A94-703F-72C0-72A4-9543004ADEAC}"/>
              </a:ext>
            </a:extLst>
          </p:cNvPr>
          <p:cNvSpPr>
            <a:spLocks noGrp="1"/>
          </p:cNvSpPr>
          <p:nvPr>
            <p:ph type="title"/>
          </p:nvPr>
        </p:nvSpPr>
        <p:spPr>
          <a:xfrm>
            <a:off x="677334" y="284847"/>
            <a:ext cx="8596668" cy="1320800"/>
          </a:xfrm>
        </p:spPr>
        <p:txBody>
          <a:bodyPr/>
          <a:lstStyle/>
          <a:p>
            <a:r>
              <a:rPr lang="en-US" dirty="0">
                <a:solidFill>
                  <a:schemeClr val="tx1"/>
                </a:solidFill>
              </a:rPr>
              <a:t>NUMBER ONE</a:t>
            </a:r>
            <a:endParaRPr lang="en-UG" dirty="0">
              <a:solidFill>
                <a:schemeClr val="tx1"/>
              </a:solidFill>
            </a:endParaRPr>
          </a:p>
        </p:txBody>
      </p:sp>
      <p:sp>
        <p:nvSpPr>
          <p:cNvPr id="3" name="Content Placeholder 2">
            <a:extLst>
              <a:ext uri="{FF2B5EF4-FFF2-40B4-BE49-F238E27FC236}">
                <a16:creationId xmlns:a16="http://schemas.microsoft.com/office/drawing/2014/main" id="{84724873-96E5-53D8-05E3-E4B523C381AB}"/>
              </a:ext>
            </a:extLst>
          </p:cNvPr>
          <p:cNvSpPr>
            <a:spLocks noGrp="1"/>
          </p:cNvSpPr>
          <p:nvPr>
            <p:ph idx="1"/>
          </p:nvPr>
        </p:nvSpPr>
        <p:spPr>
          <a:xfrm>
            <a:off x="677334" y="1605647"/>
            <a:ext cx="8885307" cy="4073793"/>
          </a:xfrm>
        </p:spPr>
        <p:txBody>
          <a:bodyPr>
            <a:normAutofit/>
          </a:bodyPr>
          <a:lstStyle/>
          <a:p>
            <a:pPr>
              <a:buFont typeface="Wingdings" panose="05000000000000000000" pitchFamily="2" charset="2"/>
              <a:buChar char="v"/>
            </a:pPr>
            <a:r>
              <a:rPr lang="en-US" dirty="0">
                <a:solidFill>
                  <a:schemeClr val="tx1"/>
                </a:solidFill>
                <a:latin typeface="+mj-lt"/>
              </a:rPr>
              <a:t>N</a:t>
            </a:r>
            <a:r>
              <a:rPr lang="en-UG" dirty="0" err="1">
                <a:solidFill>
                  <a:schemeClr val="tx1"/>
                </a:solidFill>
                <a:latin typeface="+mj-lt"/>
              </a:rPr>
              <a:t>umerical</a:t>
            </a:r>
            <a:r>
              <a:rPr lang="en-UG" dirty="0">
                <a:solidFill>
                  <a:schemeClr val="tx1"/>
                </a:solidFill>
                <a:latin typeface="+mj-lt"/>
              </a:rPr>
              <a:t> approximation for finding the solutions to functions by newtons Raphson ad secant methods based on recursive programming</a:t>
            </a:r>
            <a:endParaRPr lang="en-US" sz="2000" dirty="0">
              <a:solidFill>
                <a:schemeClr val="tx1"/>
              </a:solidFill>
              <a:latin typeface="+mj-lt"/>
              <a:ea typeface="Times New Roman" panose="02020603050405020304" pitchFamily="18" charset="0"/>
            </a:endParaRPr>
          </a:p>
          <a:p>
            <a:pPr marL="0" indent="0">
              <a:buNone/>
            </a:pPr>
            <a:r>
              <a:rPr lang="en-US" sz="2000" b="1" dirty="0">
                <a:solidFill>
                  <a:schemeClr val="tx1"/>
                </a:solidFill>
                <a:latin typeface="+mj-lt"/>
                <a:ea typeface="Times New Roman" panose="02020603050405020304" pitchFamily="18" charset="0"/>
              </a:rPr>
              <a:t>STEPS FOLLOWED</a:t>
            </a:r>
          </a:p>
          <a:p>
            <a:pPr marL="432435">
              <a:lnSpc>
                <a:spcPct val="106000"/>
              </a:lnSpc>
              <a:spcBef>
                <a:spcPts val="0"/>
              </a:spcBef>
              <a:spcAft>
                <a:spcPts val="20"/>
              </a:spcAft>
              <a:buFont typeface="Wingdings" panose="05000000000000000000" pitchFamily="2" charset="2"/>
              <a:buChar char="v"/>
            </a:pPr>
            <a:r>
              <a:rPr lang="en-UG" b="1" dirty="0">
                <a:solidFill>
                  <a:schemeClr val="tx1"/>
                </a:solidFill>
              </a:rPr>
              <a:t>Step</a:t>
            </a:r>
            <a:r>
              <a:rPr lang="en-US" b="1" dirty="0">
                <a:solidFill>
                  <a:schemeClr val="tx1"/>
                </a:solidFill>
              </a:rPr>
              <a:t> 1</a:t>
            </a:r>
            <a:r>
              <a:rPr lang="en-UG" b="1" dirty="0">
                <a:solidFill>
                  <a:schemeClr val="tx1"/>
                </a:solidFill>
              </a:rPr>
              <a:t>.</a:t>
            </a:r>
            <a:r>
              <a:rPr lang="en-US" b="1" dirty="0">
                <a:solidFill>
                  <a:schemeClr val="tx1"/>
                </a:solidFill>
              </a:rPr>
              <a:t> drawing the flow chart</a:t>
            </a:r>
            <a:endParaRPr lang="en-UG" dirty="0">
              <a:solidFill>
                <a:schemeClr val="tx1"/>
              </a:solidFill>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2: suggestion on the equation to implement.</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3: defining the function, derivative and tolerance</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4: starting timer, calling the recursive NR function and stopping the timer</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5: displaying the results</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6: plotting function and roots</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7: writing recursive formulars for both functions</a:t>
            </a:r>
            <a:endParaRPr lang="en-UG" dirty="0">
              <a:solidFill>
                <a:schemeClr val="tx1"/>
              </a:solidFill>
              <a:latin typeface="+mj-lt"/>
            </a:endParaRPr>
          </a:p>
          <a:p>
            <a:pPr marL="432435">
              <a:lnSpc>
                <a:spcPct val="106000"/>
              </a:lnSpc>
              <a:spcBef>
                <a:spcPts val="0"/>
              </a:spcBef>
              <a:spcAft>
                <a:spcPts val="20"/>
              </a:spcAft>
              <a:buFont typeface="Wingdings" panose="05000000000000000000" pitchFamily="2" charset="2"/>
              <a:buChar char="v"/>
            </a:pPr>
            <a:r>
              <a:rPr lang="en-UG" b="1" dirty="0">
                <a:solidFill>
                  <a:schemeClr val="tx1"/>
                </a:solidFill>
                <a:latin typeface="+mj-lt"/>
              </a:rPr>
              <a:t>Step 8: saving and running the code</a:t>
            </a:r>
            <a:endParaRPr lang="en-UG" dirty="0">
              <a:solidFill>
                <a:schemeClr val="tx1"/>
              </a:solidFill>
              <a:latin typeface="+mj-lt"/>
            </a:endParaRPr>
          </a:p>
          <a:p>
            <a:pPr marL="432435" marR="0">
              <a:lnSpc>
                <a:spcPct val="106000"/>
              </a:lnSpc>
              <a:spcBef>
                <a:spcPts val="0"/>
              </a:spcBef>
              <a:spcAft>
                <a:spcPts val="20"/>
              </a:spcAft>
              <a:buFont typeface="Wingdings" panose="05000000000000000000" pitchFamily="2" charset="2"/>
              <a:buChar char="v"/>
            </a:pPr>
            <a:r>
              <a:rPr lang="en-US" b="1" dirty="0">
                <a:solidFill>
                  <a:schemeClr val="tx1"/>
                </a:solidFill>
                <a:latin typeface="+mj-lt"/>
                <a:ea typeface="Times New Roman" panose="02020603050405020304" pitchFamily="18" charset="0"/>
              </a:rPr>
              <a:t>Results</a:t>
            </a:r>
          </a:p>
        </p:txBody>
      </p:sp>
      <p:sp>
        <p:nvSpPr>
          <p:cNvPr id="4" name="TextBox 3">
            <a:extLst>
              <a:ext uri="{FF2B5EF4-FFF2-40B4-BE49-F238E27FC236}">
                <a16:creationId xmlns:a16="http://schemas.microsoft.com/office/drawing/2014/main" id="{F2B6C7BF-2A66-450D-947A-6C103E97F92B}"/>
              </a:ext>
            </a:extLst>
          </p:cNvPr>
          <p:cNvSpPr txBox="1"/>
          <p:nvPr/>
        </p:nvSpPr>
        <p:spPr>
          <a:xfrm>
            <a:off x="2420413" y="959316"/>
            <a:ext cx="6205354" cy="369332"/>
          </a:xfrm>
          <a:prstGeom prst="rect">
            <a:avLst/>
          </a:prstGeom>
          <a:noFill/>
        </p:spPr>
        <p:txBody>
          <a:bodyPr wrap="square" rtlCol="0">
            <a:spAutoFit/>
          </a:bodyPr>
          <a:lstStyle/>
          <a:p>
            <a:r>
              <a:rPr lang="en-US" i="1" dirty="0"/>
              <a:t>Making codes based on recursive programming </a:t>
            </a:r>
          </a:p>
        </p:txBody>
      </p:sp>
    </p:spTree>
    <p:extLst>
      <p:ext uri="{BB962C8B-B14F-4D97-AF65-F5344CB8AC3E}">
        <p14:creationId xmlns:p14="http://schemas.microsoft.com/office/powerpoint/2010/main" val="92205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67A1F-C70A-2A61-B947-0E50ABB67A27}"/>
              </a:ext>
            </a:extLst>
          </p:cNvPr>
          <p:cNvSpPr>
            <a:spLocks noGrp="1"/>
          </p:cNvSpPr>
          <p:nvPr>
            <p:ph type="title"/>
          </p:nvPr>
        </p:nvSpPr>
        <p:spPr/>
        <p:txBody>
          <a:bodyPr/>
          <a:lstStyle/>
          <a:p>
            <a:r>
              <a:rPr lang="en-US" dirty="0">
                <a:solidFill>
                  <a:schemeClr val="tx1"/>
                </a:solidFill>
              </a:rPr>
              <a:t>WORKING PROCEDURE </a:t>
            </a:r>
            <a:endParaRPr lang="en-UG" dirty="0">
              <a:solidFill>
                <a:schemeClr val="tx1"/>
              </a:solidFill>
            </a:endParaRPr>
          </a:p>
        </p:txBody>
      </p:sp>
      <p:sp>
        <p:nvSpPr>
          <p:cNvPr id="7" name="TextBox 6">
            <a:extLst>
              <a:ext uri="{FF2B5EF4-FFF2-40B4-BE49-F238E27FC236}">
                <a16:creationId xmlns:a16="http://schemas.microsoft.com/office/drawing/2014/main" id="{AAC6C9F2-9B34-4700-5EEB-6A47444F5E91}"/>
              </a:ext>
            </a:extLst>
          </p:cNvPr>
          <p:cNvSpPr txBox="1"/>
          <p:nvPr/>
        </p:nvSpPr>
        <p:spPr>
          <a:xfrm>
            <a:off x="796413" y="1427824"/>
            <a:ext cx="1012722" cy="369332"/>
          </a:xfrm>
          <a:prstGeom prst="rect">
            <a:avLst/>
          </a:prstGeom>
          <a:noFill/>
        </p:spPr>
        <p:txBody>
          <a:bodyPr wrap="square" rtlCol="0">
            <a:spAutoFit/>
          </a:bodyPr>
          <a:lstStyle/>
          <a:p>
            <a:r>
              <a:rPr lang="en-US" dirty="0"/>
              <a:t>Step 1</a:t>
            </a:r>
            <a:endParaRPr lang="en-UG" dirty="0"/>
          </a:p>
        </p:txBody>
      </p:sp>
      <p:grpSp>
        <p:nvGrpSpPr>
          <p:cNvPr id="9" name="Canvas 37">
            <a:extLst>
              <a:ext uri="{FF2B5EF4-FFF2-40B4-BE49-F238E27FC236}">
                <a16:creationId xmlns:a16="http://schemas.microsoft.com/office/drawing/2014/main" id="{526BD787-FA6F-C32E-BE56-5D655D1CE26E}"/>
              </a:ext>
            </a:extLst>
          </p:cNvPr>
          <p:cNvGrpSpPr/>
          <p:nvPr/>
        </p:nvGrpSpPr>
        <p:grpSpPr>
          <a:xfrm>
            <a:off x="2618672" y="1645918"/>
            <a:ext cx="6655330" cy="4686055"/>
            <a:chOff x="0" y="0"/>
            <a:chExt cx="6205220" cy="4175760"/>
          </a:xfrm>
        </p:grpSpPr>
        <p:sp>
          <p:nvSpPr>
            <p:cNvPr id="10" name="Rectangle 9">
              <a:extLst>
                <a:ext uri="{FF2B5EF4-FFF2-40B4-BE49-F238E27FC236}">
                  <a16:creationId xmlns:a16="http://schemas.microsoft.com/office/drawing/2014/main" id="{14D3D9D7-4D8D-AE5F-78E6-25214130E83A}"/>
                </a:ext>
              </a:extLst>
            </p:cNvPr>
            <p:cNvSpPr/>
            <p:nvPr/>
          </p:nvSpPr>
          <p:spPr>
            <a:xfrm>
              <a:off x="0" y="0"/>
              <a:ext cx="6205220" cy="4175760"/>
            </a:xfrm>
            <a:prstGeom prst="rect">
              <a:avLst/>
            </a:prstGeom>
            <a:solidFill>
              <a:prstClr val="white"/>
            </a:solidFill>
          </p:spPr>
        </p:sp>
        <p:sp>
          <p:nvSpPr>
            <p:cNvPr id="11" name="Oval 10">
              <a:extLst>
                <a:ext uri="{FF2B5EF4-FFF2-40B4-BE49-F238E27FC236}">
                  <a16:creationId xmlns:a16="http://schemas.microsoft.com/office/drawing/2014/main" id="{5989A61D-5116-5253-9E93-9BA30E536D56}"/>
                </a:ext>
              </a:extLst>
            </p:cNvPr>
            <p:cNvSpPr/>
            <p:nvPr/>
          </p:nvSpPr>
          <p:spPr>
            <a:xfrm>
              <a:off x="687532" y="36049"/>
              <a:ext cx="807522" cy="362148"/>
            </a:xfrm>
            <a:prstGeom prst="ellipse">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start</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12" name="Flowchart: Data 11">
              <a:extLst>
                <a:ext uri="{FF2B5EF4-FFF2-40B4-BE49-F238E27FC236}">
                  <a16:creationId xmlns:a16="http://schemas.microsoft.com/office/drawing/2014/main" id="{41C4CAEE-4ADE-EDDC-2706-0F104D44245F}"/>
                </a:ext>
              </a:extLst>
            </p:cNvPr>
            <p:cNvSpPr/>
            <p:nvPr/>
          </p:nvSpPr>
          <p:spPr>
            <a:xfrm>
              <a:off x="1" y="564162"/>
              <a:ext cx="2212274" cy="457550"/>
            </a:xfrm>
            <a:prstGeom prst="flowChartInputOutput">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dy/dx=f(x,y), h, N,  y(t)</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CFC34BC4-9D4D-0BD7-2C1B-FC5C603A0BA4}"/>
                </a:ext>
              </a:extLst>
            </p:cNvPr>
            <p:cNvSpPr/>
            <p:nvPr/>
          </p:nvSpPr>
          <p:spPr>
            <a:xfrm>
              <a:off x="0" y="1122242"/>
              <a:ext cx="2219448" cy="445461"/>
            </a:xfrm>
            <a:prstGeom prst="roundRect">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n+1 = </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+h*f(x</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14" name="Flowchart: Decision 13">
              <a:extLst>
                <a:ext uri="{FF2B5EF4-FFF2-40B4-BE49-F238E27FC236}">
                  <a16:creationId xmlns:a16="http://schemas.microsoft.com/office/drawing/2014/main" id="{E44987B1-C73A-33DB-110A-3A41C41F63AA}"/>
                </a:ext>
              </a:extLst>
            </p:cNvPr>
            <p:cNvSpPr/>
            <p:nvPr/>
          </p:nvSpPr>
          <p:spPr>
            <a:xfrm>
              <a:off x="0" y="1799545"/>
              <a:ext cx="2256312" cy="848765"/>
            </a:xfrm>
            <a:prstGeom prst="flowChartDecision">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Is x</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n+1 </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&gt;= x</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end</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15" name="Flowchart: Alternate Process 14">
              <a:extLst>
                <a:ext uri="{FF2B5EF4-FFF2-40B4-BE49-F238E27FC236}">
                  <a16:creationId xmlns:a16="http://schemas.microsoft.com/office/drawing/2014/main" id="{1212FB13-1A84-BF0E-44F6-758AE52945A4}"/>
                </a:ext>
              </a:extLst>
            </p:cNvPr>
            <p:cNvSpPr/>
            <p:nvPr/>
          </p:nvSpPr>
          <p:spPr>
            <a:xfrm>
              <a:off x="265958" y="2820823"/>
              <a:ext cx="1704109" cy="451263"/>
            </a:xfrm>
            <a:prstGeom prst="flowChartAlternateProcess">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u="sng" kern="10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rPr>
                <a:t>Print  y</a:t>
              </a:r>
              <a:r>
                <a:rPr lang="en-UG" sz="1200" u="sng" kern="100" baseline="-2500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rPr>
                <a:t>n</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16" name="Oval 15">
              <a:extLst>
                <a:ext uri="{FF2B5EF4-FFF2-40B4-BE49-F238E27FC236}">
                  <a16:creationId xmlns:a16="http://schemas.microsoft.com/office/drawing/2014/main" id="{BE362B28-4617-7153-42E0-4C487407AD33}"/>
                </a:ext>
              </a:extLst>
            </p:cNvPr>
            <p:cNvSpPr/>
            <p:nvPr/>
          </p:nvSpPr>
          <p:spPr>
            <a:xfrm>
              <a:off x="645968" y="3640222"/>
              <a:ext cx="944088" cy="415636"/>
            </a:xfrm>
            <a:prstGeom prst="ellipse">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stop</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7" name="Straight Arrow Connector 16">
              <a:extLst>
                <a:ext uri="{FF2B5EF4-FFF2-40B4-BE49-F238E27FC236}">
                  <a16:creationId xmlns:a16="http://schemas.microsoft.com/office/drawing/2014/main" id="{F8807669-9F5F-9245-9994-43D93CA6863E}"/>
                </a:ext>
              </a:extLst>
            </p:cNvPr>
            <p:cNvCxnSpPr>
              <a:stCxn id="11" idx="4"/>
              <a:endCxn id="12" idx="1"/>
            </p:cNvCxnSpPr>
            <p:nvPr/>
          </p:nvCxnSpPr>
          <p:spPr>
            <a:xfrm>
              <a:off x="1091293" y="398197"/>
              <a:ext cx="14845" cy="165965"/>
            </a:xfrm>
            <a:prstGeom prst="straightConnector1">
              <a:avLst/>
            </a:prstGeom>
            <a:noFill/>
            <a:ln w="6350" cap="flat" cmpd="sng" algn="ctr">
              <a:solidFill>
                <a:srgbClr val="156082"/>
              </a:solidFill>
              <a:prstDash val="solid"/>
              <a:miter lim="800000"/>
              <a:tailEnd type="triangle"/>
            </a:ln>
            <a:effectLst/>
          </p:spPr>
        </p:cxnSp>
        <p:cxnSp>
          <p:nvCxnSpPr>
            <p:cNvPr id="18" name="Straight Arrow Connector 17">
              <a:extLst>
                <a:ext uri="{FF2B5EF4-FFF2-40B4-BE49-F238E27FC236}">
                  <a16:creationId xmlns:a16="http://schemas.microsoft.com/office/drawing/2014/main" id="{DE5BB694-69D8-EC4A-C5AD-47BB5037EBCB}"/>
                </a:ext>
              </a:extLst>
            </p:cNvPr>
            <p:cNvCxnSpPr>
              <a:stCxn id="12" idx="4"/>
              <a:endCxn id="13" idx="0"/>
            </p:cNvCxnSpPr>
            <p:nvPr/>
          </p:nvCxnSpPr>
          <p:spPr>
            <a:xfrm>
              <a:off x="1106138" y="1021712"/>
              <a:ext cx="3586" cy="100530"/>
            </a:xfrm>
            <a:prstGeom prst="straightConnector1">
              <a:avLst/>
            </a:prstGeom>
            <a:noFill/>
            <a:ln w="6350" cap="flat" cmpd="sng" algn="ctr">
              <a:solidFill>
                <a:srgbClr val="156082"/>
              </a:solidFill>
              <a:prstDash val="solid"/>
              <a:miter lim="800000"/>
              <a:tailEnd type="triangle"/>
            </a:ln>
            <a:effectLst/>
          </p:spPr>
        </p:cxnSp>
        <p:cxnSp>
          <p:nvCxnSpPr>
            <p:cNvPr id="19" name="Straight Arrow Connector 18">
              <a:extLst>
                <a:ext uri="{FF2B5EF4-FFF2-40B4-BE49-F238E27FC236}">
                  <a16:creationId xmlns:a16="http://schemas.microsoft.com/office/drawing/2014/main" id="{F9B3FA46-41AC-CF33-D521-B90A7881D332}"/>
                </a:ext>
              </a:extLst>
            </p:cNvPr>
            <p:cNvCxnSpPr>
              <a:stCxn id="13" idx="2"/>
              <a:endCxn id="14" idx="0"/>
            </p:cNvCxnSpPr>
            <p:nvPr/>
          </p:nvCxnSpPr>
          <p:spPr>
            <a:xfrm>
              <a:off x="1109724" y="1567703"/>
              <a:ext cx="18432" cy="231842"/>
            </a:xfrm>
            <a:prstGeom prst="straightConnector1">
              <a:avLst/>
            </a:prstGeom>
            <a:noFill/>
            <a:ln w="6350" cap="flat" cmpd="sng" algn="ctr">
              <a:solidFill>
                <a:srgbClr val="156082"/>
              </a:solidFill>
              <a:prstDash val="solid"/>
              <a:miter lim="800000"/>
              <a:tailEnd type="triangle"/>
            </a:ln>
            <a:effectLst/>
          </p:spPr>
        </p:cxnSp>
        <p:cxnSp>
          <p:nvCxnSpPr>
            <p:cNvPr id="20" name="Straight Arrow Connector 19">
              <a:extLst>
                <a:ext uri="{FF2B5EF4-FFF2-40B4-BE49-F238E27FC236}">
                  <a16:creationId xmlns:a16="http://schemas.microsoft.com/office/drawing/2014/main" id="{20582FD0-B390-82F1-C2A8-22A13D7850E4}"/>
                </a:ext>
              </a:extLst>
            </p:cNvPr>
            <p:cNvCxnSpPr>
              <a:stCxn id="14" idx="2"/>
              <a:endCxn id="15" idx="0"/>
            </p:cNvCxnSpPr>
            <p:nvPr/>
          </p:nvCxnSpPr>
          <p:spPr>
            <a:xfrm flipH="1">
              <a:off x="1118013" y="2648310"/>
              <a:ext cx="10143" cy="172513"/>
            </a:xfrm>
            <a:prstGeom prst="straightConnector1">
              <a:avLst/>
            </a:prstGeom>
            <a:noFill/>
            <a:ln w="6350" cap="flat" cmpd="sng" algn="ctr">
              <a:solidFill>
                <a:srgbClr val="156082"/>
              </a:solidFill>
              <a:prstDash val="solid"/>
              <a:miter lim="800000"/>
              <a:tailEnd type="triangle"/>
            </a:ln>
            <a:effectLst/>
          </p:spPr>
        </p:cxnSp>
        <p:cxnSp>
          <p:nvCxnSpPr>
            <p:cNvPr id="21" name="Straight Arrow Connector 20">
              <a:extLst>
                <a:ext uri="{FF2B5EF4-FFF2-40B4-BE49-F238E27FC236}">
                  <a16:creationId xmlns:a16="http://schemas.microsoft.com/office/drawing/2014/main" id="{D839C88B-4483-5678-3D83-135B1B49BE21}"/>
                </a:ext>
              </a:extLst>
            </p:cNvPr>
            <p:cNvCxnSpPr>
              <a:stCxn id="15" idx="2"/>
              <a:endCxn id="16" idx="0"/>
            </p:cNvCxnSpPr>
            <p:nvPr/>
          </p:nvCxnSpPr>
          <p:spPr>
            <a:xfrm flipH="1">
              <a:off x="1118012" y="3272086"/>
              <a:ext cx="1" cy="368136"/>
            </a:xfrm>
            <a:prstGeom prst="straightConnector1">
              <a:avLst/>
            </a:prstGeom>
            <a:noFill/>
            <a:ln w="6350" cap="flat" cmpd="sng" algn="ctr">
              <a:solidFill>
                <a:srgbClr val="156082"/>
              </a:solidFill>
              <a:prstDash val="solid"/>
              <a:miter lim="800000"/>
              <a:tailEnd type="triangle"/>
            </a:ln>
            <a:effectLst/>
          </p:spPr>
        </p:cxnSp>
        <p:sp>
          <p:nvSpPr>
            <p:cNvPr id="22" name="Flowchart: Alternate Process 21">
              <a:extLst>
                <a:ext uri="{FF2B5EF4-FFF2-40B4-BE49-F238E27FC236}">
                  <a16:creationId xmlns:a16="http://schemas.microsoft.com/office/drawing/2014/main" id="{D1D8245F-D1D8-350D-2E3D-0764E8974C75}"/>
                </a:ext>
              </a:extLst>
            </p:cNvPr>
            <p:cNvSpPr/>
            <p:nvPr/>
          </p:nvSpPr>
          <p:spPr>
            <a:xfrm>
              <a:off x="2516331" y="1936112"/>
              <a:ext cx="866899" cy="605335"/>
            </a:xfrm>
            <a:prstGeom prst="flowChartAlternateProcess">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 </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n+1, </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x</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=x</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n+1 </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23" name="Straight Arrow Connector 22">
              <a:extLst>
                <a:ext uri="{FF2B5EF4-FFF2-40B4-BE49-F238E27FC236}">
                  <a16:creationId xmlns:a16="http://schemas.microsoft.com/office/drawing/2014/main" id="{F4AF72FD-7A26-686F-5A22-78AC1179AF55}"/>
                </a:ext>
              </a:extLst>
            </p:cNvPr>
            <p:cNvCxnSpPr>
              <a:stCxn id="14" idx="3"/>
              <a:endCxn id="22" idx="1"/>
            </p:cNvCxnSpPr>
            <p:nvPr/>
          </p:nvCxnSpPr>
          <p:spPr>
            <a:xfrm>
              <a:off x="2256312" y="2223928"/>
              <a:ext cx="260019" cy="14852"/>
            </a:xfrm>
            <a:prstGeom prst="straightConnector1">
              <a:avLst/>
            </a:prstGeom>
            <a:noFill/>
            <a:ln w="6350" cap="flat" cmpd="sng" algn="ctr">
              <a:solidFill>
                <a:srgbClr val="156082"/>
              </a:solidFill>
              <a:prstDash val="solid"/>
              <a:miter lim="800000"/>
              <a:tailEnd type="triangle"/>
            </a:ln>
            <a:effectLst/>
          </p:spPr>
        </p:cxnSp>
        <p:cxnSp>
          <p:nvCxnSpPr>
            <p:cNvPr id="24" name="Straight Connector 23">
              <a:extLst>
                <a:ext uri="{FF2B5EF4-FFF2-40B4-BE49-F238E27FC236}">
                  <a16:creationId xmlns:a16="http://schemas.microsoft.com/office/drawing/2014/main" id="{AA571A86-0E85-F998-486B-CBDC62D1BA07}"/>
                </a:ext>
              </a:extLst>
            </p:cNvPr>
            <p:cNvCxnSpPr>
              <a:stCxn id="22" idx="0"/>
            </p:cNvCxnSpPr>
            <p:nvPr/>
          </p:nvCxnSpPr>
          <p:spPr>
            <a:xfrm flipH="1" flipV="1">
              <a:off x="2931968" y="1074627"/>
              <a:ext cx="17813" cy="861485"/>
            </a:xfrm>
            <a:prstGeom prst="line">
              <a:avLst/>
            </a:prstGeom>
            <a:noFill/>
            <a:ln w="6350" cap="flat" cmpd="sng" algn="ctr">
              <a:solidFill>
                <a:srgbClr val="156082"/>
              </a:solidFill>
              <a:prstDash val="solid"/>
              <a:miter lim="800000"/>
            </a:ln>
            <a:effectLst/>
          </p:spPr>
        </p:cxnSp>
        <p:cxnSp>
          <p:nvCxnSpPr>
            <p:cNvPr id="25" name="Straight Arrow Connector 24">
              <a:extLst>
                <a:ext uri="{FF2B5EF4-FFF2-40B4-BE49-F238E27FC236}">
                  <a16:creationId xmlns:a16="http://schemas.microsoft.com/office/drawing/2014/main" id="{58C47924-27DA-91E9-2610-11481AB354CE}"/>
                </a:ext>
              </a:extLst>
            </p:cNvPr>
            <p:cNvCxnSpPr/>
            <p:nvPr/>
          </p:nvCxnSpPr>
          <p:spPr>
            <a:xfrm flipH="1" flipV="1">
              <a:off x="1128156" y="1063016"/>
              <a:ext cx="1821625" cy="12004"/>
            </a:xfrm>
            <a:prstGeom prst="straightConnector1">
              <a:avLst/>
            </a:prstGeom>
            <a:noFill/>
            <a:ln w="6350" cap="flat" cmpd="sng" algn="ctr">
              <a:solidFill>
                <a:srgbClr val="156082"/>
              </a:solidFill>
              <a:prstDash val="solid"/>
              <a:miter lim="800000"/>
              <a:tailEnd type="triangle"/>
            </a:ln>
            <a:effectLst/>
          </p:spPr>
        </p:cxnSp>
        <p:sp>
          <p:nvSpPr>
            <p:cNvPr id="26" name="Oval 25">
              <a:extLst>
                <a:ext uri="{FF2B5EF4-FFF2-40B4-BE49-F238E27FC236}">
                  <a16:creationId xmlns:a16="http://schemas.microsoft.com/office/drawing/2014/main" id="{2671B062-5712-38BB-A051-D9A92ED53D19}"/>
                </a:ext>
              </a:extLst>
            </p:cNvPr>
            <p:cNvSpPr/>
            <p:nvPr/>
          </p:nvSpPr>
          <p:spPr>
            <a:xfrm>
              <a:off x="4285755" y="35999"/>
              <a:ext cx="765958" cy="362198"/>
            </a:xfrm>
            <a:prstGeom prst="ellipse">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start</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27" name="Flowchart: Data 26">
              <a:extLst>
                <a:ext uri="{FF2B5EF4-FFF2-40B4-BE49-F238E27FC236}">
                  <a16:creationId xmlns:a16="http://schemas.microsoft.com/office/drawing/2014/main" id="{2FB15942-C6C7-6B0F-F21C-750F263718D6}"/>
                </a:ext>
              </a:extLst>
            </p:cNvPr>
            <p:cNvSpPr/>
            <p:nvPr/>
          </p:nvSpPr>
          <p:spPr>
            <a:xfrm>
              <a:off x="3501983" y="540648"/>
              <a:ext cx="2339439" cy="444914"/>
            </a:xfrm>
            <a:prstGeom prst="flowChartInputOutput">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dy/dx=f(x,y), h, N,  y(t)</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28" name="Flowchart: Alternate Process 27">
              <a:extLst>
                <a:ext uri="{FF2B5EF4-FFF2-40B4-BE49-F238E27FC236}">
                  <a16:creationId xmlns:a16="http://schemas.microsoft.com/office/drawing/2014/main" id="{57966D3F-744E-3F07-3DB9-D39D2318C4FB}"/>
                </a:ext>
              </a:extLst>
            </p:cNvPr>
            <p:cNvSpPr/>
            <p:nvPr/>
          </p:nvSpPr>
          <p:spPr>
            <a:xfrm>
              <a:off x="3537610" y="1169721"/>
              <a:ext cx="2232561" cy="564382"/>
            </a:xfrm>
            <a:prstGeom prst="flowChartAlternateProcess">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n+1</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+6h(k</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1</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+2k</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2</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+2k</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3</a:t>
              </a:r>
              <a:r>
                <a:rPr lang="en-UG" sz="1200" kern="100">
                  <a:effectLst/>
                  <a:latin typeface="Times New Roman" panose="02020603050405020304" pitchFamily="18" charset="0"/>
                  <a:ea typeface="Aptos" panose="020B0004020202020204" pitchFamily="34" charset="0"/>
                  <a:cs typeface="Times New Roman" panose="02020603050405020304" pitchFamily="18" charset="0"/>
                </a:rPr>
                <a:t>+k</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4</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29" name="Flowchart: Decision 28">
              <a:extLst>
                <a:ext uri="{FF2B5EF4-FFF2-40B4-BE49-F238E27FC236}">
                  <a16:creationId xmlns:a16="http://schemas.microsoft.com/office/drawing/2014/main" id="{0DFA53DC-ACB0-C085-7D58-8998B360A52D}"/>
                </a:ext>
              </a:extLst>
            </p:cNvPr>
            <p:cNvSpPr/>
            <p:nvPr/>
          </p:nvSpPr>
          <p:spPr>
            <a:xfrm>
              <a:off x="3614202" y="1876737"/>
              <a:ext cx="2108310" cy="730332"/>
            </a:xfrm>
            <a:prstGeom prst="flowChartDecision">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dirty="0">
                  <a:effectLst/>
                  <a:latin typeface="Times New Roman" panose="02020603050405020304" pitchFamily="18" charset="0"/>
                  <a:ea typeface="Aptos" panose="020B0004020202020204" pitchFamily="34" charset="0"/>
                  <a:cs typeface="Times New Roman" panose="02020603050405020304" pitchFamily="18" charset="0"/>
                </a:rPr>
                <a:t>Is x</a:t>
              </a:r>
              <a:r>
                <a:rPr lang="en-UG" sz="1200" kern="100" baseline="-25000" dirty="0">
                  <a:effectLst/>
                  <a:latin typeface="Times New Roman" panose="02020603050405020304" pitchFamily="18" charset="0"/>
                  <a:ea typeface="Aptos" panose="020B0004020202020204" pitchFamily="34" charset="0"/>
                  <a:cs typeface="Times New Roman" panose="02020603050405020304" pitchFamily="18" charset="0"/>
                </a:rPr>
                <a:t>n+1 </a:t>
              </a:r>
              <a:r>
                <a:rPr lang="en-UG" sz="1200" kern="100" dirty="0">
                  <a:effectLst/>
                  <a:latin typeface="Times New Roman" panose="02020603050405020304" pitchFamily="18" charset="0"/>
                  <a:ea typeface="Aptos" panose="020B0004020202020204" pitchFamily="34" charset="0"/>
                  <a:cs typeface="Times New Roman" panose="02020603050405020304" pitchFamily="18" charset="0"/>
                </a:rPr>
                <a:t>&gt;= x</a:t>
              </a:r>
              <a:r>
                <a:rPr lang="en-UG" sz="1200" kern="100" baseline="-25000" dirty="0">
                  <a:effectLst/>
                  <a:latin typeface="Times New Roman" panose="02020603050405020304" pitchFamily="18" charset="0"/>
                  <a:ea typeface="Aptos" panose="020B0004020202020204" pitchFamily="34" charset="0"/>
                  <a:cs typeface="Times New Roman" panose="02020603050405020304" pitchFamily="18" charset="0"/>
                </a:rPr>
                <a:t>end</a:t>
              </a:r>
              <a:endParaRPr lang="en-UG" sz="12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15000"/>
                </a:lnSpc>
                <a:spcAft>
                  <a:spcPts val="800"/>
                </a:spcAft>
              </a:pPr>
              <a:r>
                <a:rPr lang="en-UG" sz="12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G"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0" name="Flowchart: Alternate Process 29">
              <a:extLst>
                <a:ext uri="{FF2B5EF4-FFF2-40B4-BE49-F238E27FC236}">
                  <a16:creationId xmlns:a16="http://schemas.microsoft.com/office/drawing/2014/main" id="{DCE8862C-1FAA-1856-2502-E0F7C138379A}"/>
                </a:ext>
              </a:extLst>
            </p:cNvPr>
            <p:cNvSpPr/>
            <p:nvPr/>
          </p:nvSpPr>
          <p:spPr>
            <a:xfrm>
              <a:off x="3816680" y="3040517"/>
              <a:ext cx="1698172" cy="409699"/>
            </a:xfrm>
            <a:prstGeom prst="flowChartAlternateProcess">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Print  y</a:t>
              </a:r>
              <a:r>
                <a:rPr lang="en-UG" sz="1200" kern="100" baseline="-25000">
                  <a:effectLst/>
                  <a:latin typeface="Times New Roman" panose="02020603050405020304" pitchFamily="18" charset="0"/>
                  <a:ea typeface="Aptos" panose="020B0004020202020204" pitchFamily="34" charset="0"/>
                  <a:cs typeface="Times New Roman" panose="02020603050405020304" pitchFamily="18" charset="0"/>
                </a:rPr>
                <a:t>n</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31" name="Oval 30">
              <a:extLst>
                <a:ext uri="{FF2B5EF4-FFF2-40B4-BE49-F238E27FC236}">
                  <a16:creationId xmlns:a16="http://schemas.microsoft.com/office/drawing/2014/main" id="{75FE583B-ACFC-EAF7-9215-3A0E3CD6B6C4}"/>
                </a:ext>
              </a:extLst>
            </p:cNvPr>
            <p:cNvSpPr/>
            <p:nvPr/>
          </p:nvSpPr>
          <p:spPr>
            <a:xfrm>
              <a:off x="4226194" y="3794600"/>
              <a:ext cx="902524" cy="368136"/>
            </a:xfrm>
            <a:prstGeom prst="ellipse">
              <a:avLst/>
            </a:prstGeom>
            <a:solidFill>
              <a:srgbClr val="156082"/>
            </a:solidFill>
            <a:ln w="12700" cap="flat" cmpd="sng" algn="ctr">
              <a:solidFill>
                <a:srgbClr val="156082">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en-UG" sz="1200" kern="100">
                  <a:effectLst/>
                  <a:latin typeface="Times New Roman" panose="02020603050405020304" pitchFamily="18" charset="0"/>
                  <a:ea typeface="Aptos" panose="020B0004020202020204" pitchFamily="34" charset="0"/>
                  <a:cs typeface="Times New Roman" panose="02020603050405020304" pitchFamily="18" charset="0"/>
                </a:rPr>
                <a:t>stop</a:t>
              </a:r>
              <a:endParaRPr lang="en-UG" sz="1200" kern="10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C08492D4-E8BB-8965-6D5B-C51887557688}"/>
                </a:ext>
              </a:extLst>
            </p:cNvPr>
            <p:cNvCxnSpPr>
              <a:stCxn id="29" idx="2"/>
              <a:endCxn id="30" idx="0"/>
            </p:cNvCxnSpPr>
            <p:nvPr/>
          </p:nvCxnSpPr>
          <p:spPr>
            <a:xfrm flipH="1">
              <a:off x="4665766" y="2607069"/>
              <a:ext cx="2591" cy="433448"/>
            </a:xfrm>
            <a:prstGeom prst="straightConnector1">
              <a:avLst/>
            </a:prstGeom>
            <a:noFill/>
            <a:ln w="6350" cap="flat" cmpd="sng" algn="ctr">
              <a:solidFill>
                <a:srgbClr val="156082"/>
              </a:solidFill>
              <a:prstDash val="solid"/>
              <a:miter lim="800000"/>
              <a:tailEnd type="triangle"/>
            </a:ln>
            <a:effectLst/>
          </p:spPr>
        </p:cxnSp>
        <p:cxnSp>
          <p:nvCxnSpPr>
            <p:cNvPr id="33" name="Straight Arrow Connector 32">
              <a:extLst>
                <a:ext uri="{FF2B5EF4-FFF2-40B4-BE49-F238E27FC236}">
                  <a16:creationId xmlns:a16="http://schemas.microsoft.com/office/drawing/2014/main" id="{E8F7FB86-7E7E-A756-25EF-AD7CD7ECE6BD}"/>
                </a:ext>
              </a:extLst>
            </p:cNvPr>
            <p:cNvCxnSpPr>
              <a:endCxn id="31" idx="0"/>
            </p:cNvCxnSpPr>
            <p:nvPr/>
          </p:nvCxnSpPr>
          <p:spPr>
            <a:xfrm>
              <a:off x="4665154" y="3462092"/>
              <a:ext cx="12282" cy="332508"/>
            </a:xfrm>
            <a:prstGeom prst="straightConnector1">
              <a:avLst/>
            </a:prstGeom>
            <a:noFill/>
            <a:ln w="6350" cap="flat" cmpd="sng" algn="ctr">
              <a:solidFill>
                <a:srgbClr val="156082"/>
              </a:solidFill>
              <a:prstDash val="solid"/>
              <a:miter lim="800000"/>
              <a:tailEnd type="triangle"/>
            </a:ln>
            <a:effectLst/>
          </p:spPr>
        </p:cxnSp>
        <p:cxnSp>
          <p:nvCxnSpPr>
            <p:cNvPr id="34" name="Straight Arrow Connector 33">
              <a:extLst>
                <a:ext uri="{FF2B5EF4-FFF2-40B4-BE49-F238E27FC236}">
                  <a16:creationId xmlns:a16="http://schemas.microsoft.com/office/drawing/2014/main" id="{1FE1B437-89B3-1FE3-B5C2-490919E6B4A7}"/>
                </a:ext>
              </a:extLst>
            </p:cNvPr>
            <p:cNvCxnSpPr>
              <a:endCxn id="29" idx="0"/>
            </p:cNvCxnSpPr>
            <p:nvPr/>
          </p:nvCxnSpPr>
          <p:spPr>
            <a:xfrm>
              <a:off x="4653687" y="1722357"/>
              <a:ext cx="14624" cy="154380"/>
            </a:xfrm>
            <a:prstGeom prst="straightConnector1">
              <a:avLst/>
            </a:prstGeom>
            <a:noFill/>
            <a:ln w="6350" cap="flat" cmpd="sng" algn="ctr">
              <a:solidFill>
                <a:srgbClr val="156082"/>
              </a:solidFill>
              <a:prstDash val="solid"/>
              <a:miter lim="800000"/>
              <a:tailEnd type="triangle"/>
            </a:ln>
            <a:effectLst/>
          </p:spPr>
        </p:cxnSp>
        <p:cxnSp>
          <p:nvCxnSpPr>
            <p:cNvPr id="35" name="Straight Arrow Connector 34">
              <a:extLst>
                <a:ext uri="{FF2B5EF4-FFF2-40B4-BE49-F238E27FC236}">
                  <a16:creationId xmlns:a16="http://schemas.microsoft.com/office/drawing/2014/main" id="{9F21D2AD-0979-CFB6-FFC4-97438D0A1D0E}"/>
                </a:ext>
              </a:extLst>
            </p:cNvPr>
            <p:cNvCxnSpPr>
              <a:stCxn id="27" idx="4"/>
              <a:endCxn id="28" idx="0"/>
            </p:cNvCxnSpPr>
            <p:nvPr/>
          </p:nvCxnSpPr>
          <p:spPr>
            <a:xfrm flipH="1">
              <a:off x="4653891" y="985562"/>
              <a:ext cx="17812" cy="184159"/>
            </a:xfrm>
            <a:prstGeom prst="straightConnector1">
              <a:avLst/>
            </a:prstGeom>
            <a:noFill/>
            <a:ln w="6350" cap="flat" cmpd="sng" algn="ctr">
              <a:solidFill>
                <a:srgbClr val="156082"/>
              </a:solidFill>
              <a:prstDash val="solid"/>
              <a:miter lim="800000"/>
              <a:tailEnd type="triangle"/>
            </a:ln>
            <a:effectLst/>
          </p:spPr>
        </p:cxnSp>
        <p:cxnSp>
          <p:nvCxnSpPr>
            <p:cNvPr id="36" name="Straight Arrow Connector 35">
              <a:extLst>
                <a:ext uri="{FF2B5EF4-FFF2-40B4-BE49-F238E27FC236}">
                  <a16:creationId xmlns:a16="http://schemas.microsoft.com/office/drawing/2014/main" id="{4371CA72-A714-9E6D-5BD0-8D097A887CA4}"/>
                </a:ext>
              </a:extLst>
            </p:cNvPr>
            <p:cNvCxnSpPr>
              <a:stCxn id="26" idx="4"/>
              <a:endCxn id="27" idx="1"/>
            </p:cNvCxnSpPr>
            <p:nvPr/>
          </p:nvCxnSpPr>
          <p:spPr>
            <a:xfrm>
              <a:off x="4668734" y="398197"/>
              <a:ext cx="2969" cy="142451"/>
            </a:xfrm>
            <a:prstGeom prst="straightConnector1">
              <a:avLst/>
            </a:prstGeom>
            <a:noFill/>
            <a:ln w="6350" cap="flat" cmpd="sng" algn="ctr">
              <a:solidFill>
                <a:srgbClr val="156082"/>
              </a:solidFill>
              <a:prstDash val="solid"/>
              <a:miter lim="800000"/>
              <a:tailEnd type="triangle"/>
            </a:ln>
            <a:effectLst/>
          </p:spPr>
        </p:cxnSp>
        <p:cxnSp>
          <p:nvCxnSpPr>
            <p:cNvPr id="37" name="Straight Arrow Connector 36">
              <a:extLst>
                <a:ext uri="{FF2B5EF4-FFF2-40B4-BE49-F238E27FC236}">
                  <a16:creationId xmlns:a16="http://schemas.microsoft.com/office/drawing/2014/main" id="{4B39C1F8-A963-C8DF-79BC-E2F68E78C4FB}"/>
                </a:ext>
              </a:extLst>
            </p:cNvPr>
            <p:cNvCxnSpPr>
              <a:stCxn id="29" idx="1"/>
              <a:endCxn id="22" idx="3"/>
            </p:cNvCxnSpPr>
            <p:nvPr/>
          </p:nvCxnSpPr>
          <p:spPr>
            <a:xfrm flipH="1" flipV="1">
              <a:off x="3383230" y="2238780"/>
              <a:ext cx="230972" cy="3123"/>
            </a:xfrm>
            <a:prstGeom prst="straightConnector1">
              <a:avLst/>
            </a:prstGeom>
            <a:noFill/>
            <a:ln w="6350" cap="flat" cmpd="sng" algn="ctr">
              <a:solidFill>
                <a:srgbClr val="156082"/>
              </a:solidFill>
              <a:prstDash val="solid"/>
              <a:miter lim="800000"/>
              <a:tailEnd type="triangle"/>
            </a:ln>
            <a:effectLst/>
          </p:spPr>
        </p:cxnSp>
        <p:cxnSp>
          <p:nvCxnSpPr>
            <p:cNvPr id="38" name="Straight Arrow Connector 37">
              <a:extLst>
                <a:ext uri="{FF2B5EF4-FFF2-40B4-BE49-F238E27FC236}">
                  <a16:creationId xmlns:a16="http://schemas.microsoft.com/office/drawing/2014/main" id="{CA52F9FF-5A39-B7CE-D4E8-5B4B990C58AA}"/>
                </a:ext>
              </a:extLst>
            </p:cNvPr>
            <p:cNvCxnSpPr/>
            <p:nvPr/>
          </p:nvCxnSpPr>
          <p:spPr>
            <a:xfrm>
              <a:off x="2914155" y="1074627"/>
              <a:ext cx="1775361" cy="393"/>
            </a:xfrm>
            <a:prstGeom prst="straightConnector1">
              <a:avLst/>
            </a:prstGeom>
            <a:noFill/>
            <a:ln w="6350" cap="flat" cmpd="sng" algn="ctr">
              <a:solidFill>
                <a:srgbClr val="156082"/>
              </a:solidFill>
              <a:prstDash val="solid"/>
              <a:miter lim="800000"/>
              <a:tailEnd type="triangle"/>
            </a:ln>
            <a:effectLst/>
          </p:spPr>
        </p:cxnSp>
      </p:grpSp>
    </p:spTree>
    <p:extLst>
      <p:ext uri="{BB962C8B-B14F-4D97-AF65-F5344CB8AC3E}">
        <p14:creationId xmlns:p14="http://schemas.microsoft.com/office/powerpoint/2010/main" val="2653371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5BF94F0-29B3-214A-3B2B-EAA101D26B99}"/>
                  </a:ext>
                </a:extLst>
              </p:cNvPr>
              <p:cNvSpPr txBox="1"/>
              <p:nvPr/>
            </p:nvSpPr>
            <p:spPr>
              <a:xfrm>
                <a:off x="1455173" y="875070"/>
                <a:ext cx="6078688" cy="2003241"/>
              </a:xfrm>
              <a:prstGeom prst="rect">
                <a:avLst/>
              </a:prstGeom>
              <a:noFill/>
            </p:spPr>
            <p:txBody>
              <a:bodyPr wrap="square" rtlCol="0">
                <a:spAutoFit/>
              </a:bodyPr>
              <a:lstStyle/>
              <a:p>
                <a:r>
                  <a:rPr lang="en-US" b="1" dirty="0"/>
                  <a:t>Actual Writing of the codes using the approximation.</a:t>
                </a:r>
              </a:p>
              <a:p>
                <a:endParaRPr lang="en-US" b="1" dirty="0"/>
              </a:p>
              <a:p>
                <a:r>
                  <a:rPr lang="en-US" b="1" dirty="0"/>
                  <a:t>This also involves identifying the problem</a:t>
                </a:r>
              </a:p>
              <a:p>
                <a:endParaRPr lang="en-US" dirty="0"/>
              </a:p>
              <a:p>
                <a14:m>
                  <m:oMathPara xmlns:m="http://schemas.openxmlformats.org/officeDocument/2006/math">
                    <m:oMathParaPr>
                      <m:jc m:val="centerGroup"/>
                    </m:oMathParaPr>
                    <m:oMath xmlns:m="http://schemas.openxmlformats.org/officeDocument/2006/math">
                      <m:f>
                        <m:fPr>
                          <m:ctrlPr>
                            <a:rPr lang="en-UG" sz="1800" i="1" kern="10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𝑑𝑦</m:t>
                          </m:r>
                        </m:num>
                        <m:den>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𝑑𝑥</m:t>
                          </m:r>
                        </m:den>
                      </m:f>
                      <m:r>
                        <a:rPr lang="en-UG" sz="1800" i="1" kern="1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en-UG" sz="18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𝑥</m:t>
                          </m:r>
                        </m:e>
                        <m:sup>
                          <m:r>
                            <a:rPr lang="en-UG" sz="1800" i="1" kern="100">
                              <a:effectLst/>
                              <a:latin typeface="Cambria Math" panose="02040503050406030204" pitchFamily="18" charset="0"/>
                              <a:ea typeface="Aptos" panose="020B0004020202020204" pitchFamily="34" charset="0"/>
                              <a:cs typeface="Times New Roman" panose="02020603050405020304" pitchFamily="18" charset="0"/>
                            </a:rPr>
                            <m:t>2</m:t>
                          </m:r>
                        </m:sup>
                      </m:sSup>
                      <m:r>
                        <a:rPr lang="en-UG"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𝑦</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      </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𝑥</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0=0, </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𝑦</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0=1, </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h</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=0.1, </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𝑛</m:t>
                      </m:r>
                      <m:r>
                        <a:rPr lang="en-UG" sz="1800" i="1" kern="100">
                          <a:effectLst/>
                          <a:latin typeface="Cambria Math" panose="02040503050406030204" pitchFamily="18" charset="0"/>
                          <a:ea typeface="Aptos" panose="020B0004020202020204" pitchFamily="34" charset="0"/>
                          <a:cs typeface="Times New Roman" panose="02020603050405020304" pitchFamily="18" charset="0"/>
                        </a:rPr>
                        <m:t>=10</m:t>
                      </m:r>
                    </m:oMath>
                  </m:oMathPara>
                </a14:m>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mc:Choice>
        <mc:Fallback>
          <p:sp>
            <p:nvSpPr>
              <p:cNvPr id="2" name="TextBox 1">
                <a:extLst>
                  <a:ext uri="{FF2B5EF4-FFF2-40B4-BE49-F238E27FC236}">
                    <a16:creationId xmlns:a16="http://schemas.microsoft.com/office/drawing/2014/main" id="{25BF94F0-29B3-214A-3B2B-EAA101D26B99}"/>
                  </a:ext>
                </a:extLst>
              </p:cNvPr>
              <p:cNvSpPr txBox="1">
                <a:spLocks noRot="1" noChangeAspect="1" noMove="1" noResize="1" noEditPoints="1" noAdjustHandles="1" noChangeArrowheads="1" noChangeShapeType="1" noTextEdit="1"/>
              </p:cNvSpPr>
              <p:nvPr/>
            </p:nvSpPr>
            <p:spPr>
              <a:xfrm>
                <a:off x="1455173" y="875070"/>
                <a:ext cx="6078688" cy="2003241"/>
              </a:xfrm>
              <a:prstGeom prst="rect">
                <a:avLst/>
              </a:prstGeom>
              <a:blipFill>
                <a:blip r:embed="rId2"/>
                <a:stretch>
                  <a:fillRect l="-903" t="-1829"/>
                </a:stretch>
              </a:blipFill>
            </p:spPr>
            <p:txBody>
              <a:bodyPr/>
              <a:lstStyle/>
              <a:p>
                <a:r>
                  <a:rPr lang="en-UG">
                    <a:noFill/>
                  </a:rPr>
                  <a:t> </a:t>
                </a:r>
              </a:p>
            </p:txBody>
          </p:sp>
        </mc:Fallback>
      </mc:AlternateContent>
      <p:sp>
        <p:nvSpPr>
          <p:cNvPr id="4" name="TextBox 3">
            <a:extLst>
              <a:ext uri="{FF2B5EF4-FFF2-40B4-BE49-F238E27FC236}">
                <a16:creationId xmlns:a16="http://schemas.microsoft.com/office/drawing/2014/main" id="{C3C7D69B-73D9-AD89-185C-E55B097DAFE6}"/>
              </a:ext>
            </a:extLst>
          </p:cNvPr>
          <p:cNvSpPr txBox="1"/>
          <p:nvPr/>
        </p:nvSpPr>
        <p:spPr>
          <a:xfrm>
            <a:off x="1455173" y="3059668"/>
            <a:ext cx="7782339" cy="369332"/>
          </a:xfrm>
          <a:prstGeom prst="rect">
            <a:avLst/>
          </a:prstGeom>
          <a:noFill/>
        </p:spPr>
        <p:txBody>
          <a:bodyPr wrap="square" rtlCol="0">
            <a:spAutoFit/>
          </a:bodyPr>
          <a:lstStyle/>
          <a:p>
            <a:r>
              <a:rPr lang="en-US" b="1" dirty="0"/>
              <a:t>Step 3, identifying the ode and initial conditions</a:t>
            </a:r>
            <a:endParaRPr lang="en-UG" b="1" dirty="0"/>
          </a:p>
        </p:txBody>
      </p:sp>
      <p:pic>
        <p:nvPicPr>
          <p:cNvPr id="5" name="Picture 4">
            <a:extLst>
              <a:ext uri="{FF2B5EF4-FFF2-40B4-BE49-F238E27FC236}">
                <a16:creationId xmlns:a16="http://schemas.microsoft.com/office/drawing/2014/main" id="{68E55471-7039-E0F8-8DA7-FD2BAFA16A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8066" y="4049854"/>
            <a:ext cx="8374217" cy="1021246"/>
          </a:xfrm>
          <a:prstGeom prst="rect">
            <a:avLst/>
          </a:prstGeom>
        </p:spPr>
      </p:pic>
    </p:spTree>
    <p:extLst>
      <p:ext uri="{BB962C8B-B14F-4D97-AF65-F5344CB8AC3E}">
        <p14:creationId xmlns:p14="http://schemas.microsoft.com/office/powerpoint/2010/main" val="452049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0E6C24-FD36-EBE7-E937-C56C7DC70935}"/>
              </a:ext>
            </a:extLst>
          </p:cNvPr>
          <p:cNvSpPr txBox="1"/>
          <p:nvPr/>
        </p:nvSpPr>
        <p:spPr>
          <a:xfrm>
            <a:off x="1311965" y="795130"/>
            <a:ext cx="7772400" cy="923330"/>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4: </a:t>
            </a:r>
            <a:endParaRPr lang="en-US" sz="1800" b="1"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US" b="1" kern="100" dirty="0">
                <a:latin typeface="Times New Roman" panose="02020603050405020304" pitchFamily="18" charset="0"/>
                <a:ea typeface="Aptos" panose="020B0004020202020204" pitchFamily="34" charset="0"/>
                <a:cs typeface="Times New Roman" panose="02020603050405020304" pitchFamily="18" charset="0"/>
              </a:rPr>
              <a:t>S</a:t>
            </a: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tarting the clock, calling recursive functions and stopping the clock.</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3" name="Picture 2">
            <a:extLst>
              <a:ext uri="{FF2B5EF4-FFF2-40B4-BE49-F238E27FC236}">
                <a16:creationId xmlns:a16="http://schemas.microsoft.com/office/drawing/2014/main" id="{D92CAB4F-683D-C6BC-7BD8-1AEDEE43D0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974" y="1700169"/>
            <a:ext cx="8806846" cy="884002"/>
          </a:xfrm>
          <a:prstGeom prst="rect">
            <a:avLst/>
          </a:prstGeom>
        </p:spPr>
      </p:pic>
      <p:pic>
        <p:nvPicPr>
          <p:cNvPr id="4" name="Picture 3">
            <a:extLst>
              <a:ext uri="{FF2B5EF4-FFF2-40B4-BE49-F238E27FC236}">
                <a16:creationId xmlns:a16="http://schemas.microsoft.com/office/drawing/2014/main" id="{EF46708B-A142-48A7-4B1B-F0968424C7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974" y="4561233"/>
            <a:ext cx="7871791" cy="750344"/>
          </a:xfrm>
          <a:prstGeom prst="rect">
            <a:avLst/>
          </a:prstGeom>
        </p:spPr>
      </p:pic>
      <p:sp>
        <p:nvSpPr>
          <p:cNvPr id="5" name="TextBox 4">
            <a:extLst>
              <a:ext uri="{FF2B5EF4-FFF2-40B4-BE49-F238E27FC236}">
                <a16:creationId xmlns:a16="http://schemas.microsoft.com/office/drawing/2014/main" id="{49878636-008B-942A-CD72-FEC70D24232A}"/>
              </a:ext>
            </a:extLst>
          </p:cNvPr>
          <p:cNvSpPr txBox="1"/>
          <p:nvPr/>
        </p:nvSpPr>
        <p:spPr>
          <a:xfrm>
            <a:off x="1311965" y="3111037"/>
            <a:ext cx="7772400" cy="814134"/>
          </a:xfrm>
          <a:prstGeom prst="rect">
            <a:avLst/>
          </a:prstGeom>
          <a:noFill/>
        </p:spPr>
        <p:txBody>
          <a:bodyPr wrap="square" rtlCol="0">
            <a:spAutoFit/>
          </a:bodyPr>
          <a:lstStyle/>
          <a:p>
            <a:pPr>
              <a:lnSpc>
                <a:spcPct val="115000"/>
              </a:lnSpc>
              <a:spcAft>
                <a:spcPts val="800"/>
              </a:spcAft>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5:</a:t>
            </a:r>
            <a:endParaRPr lang="en-US" sz="1800" b="1"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pPr>
            <a:r>
              <a:rPr lang="en-US" b="1" kern="100" dirty="0">
                <a:latin typeface="Times New Roman" panose="02020603050405020304" pitchFamily="18" charset="0"/>
                <a:ea typeface="Aptos" panose="020B0004020202020204" pitchFamily="34" charset="0"/>
                <a:cs typeface="Times New Roman" panose="02020603050405020304" pitchFamily="18" charset="0"/>
              </a:rPr>
              <a:t>D</a:t>
            </a:r>
            <a:r>
              <a:rPr lang="en-UG" sz="1800" b="1" kern="100" dirty="0" err="1">
                <a:effectLst/>
                <a:latin typeface="Times New Roman" panose="02020603050405020304" pitchFamily="18" charset="0"/>
                <a:ea typeface="Aptos" panose="020B0004020202020204" pitchFamily="34" charset="0"/>
                <a:cs typeface="Times New Roman" panose="02020603050405020304" pitchFamily="18" charset="0"/>
              </a:rPr>
              <a:t>isplaying</a:t>
            </a: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 computation time</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MATLAB has the fprintf function</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70090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8FA3AE-687D-469D-88D6-2B02E67FD967}"/>
              </a:ext>
            </a:extLst>
          </p:cNvPr>
          <p:cNvSpPr txBox="1"/>
          <p:nvPr/>
        </p:nvSpPr>
        <p:spPr>
          <a:xfrm>
            <a:off x="805070" y="407504"/>
            <a:ext cx="5068956" cy="646331"/>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6: visualisation (plotting)</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3" name="Picture 2">
            <a:extLst>
              <a:ext uri="{FF2B5EF4-FFF2-40B4-BE49-F238E27FC236}">
                <a16:creationId xmlns:a16="http://schemas.microsoft.com/office/drawing/2014/main" id="{5EF715AA-C100-6A66-3537-722BE422B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070" y="932625"/>
            <a:ext cx="8597347" cy="876300"/>
          </a:xfrm>
          <a:prstGeom prst="rect">
            <a:avLst/>
          </a:prstGeom>
        </p:spPr>
      </p:pic>
      <p:sp>
        <p:nvSpPr>
          <p:cNvPr id="4" name="TextBox 3">
            <a:extLst>
              <a:ext uri="{FF2B5EF4-FFF2-40B4-BE49-F238E27FC236}">
                <a16:creationId xmlns:a16="http://schemas.microsoft.com/office/drawing/2014/main" id="{FF6D22B8-70C9-CBB3-7E76-56ED5476A9E7}"/>
              </a:ext>
            </a:extLst>
          </p:cNvPr>
          <p:cNvSpPr txBox="1"/>
          <p:nvPr/>
        </p:nvSpPr>
        <p:spPr>
          <a:xfrm>
            <a:off x="805070" y="2029242"/>
            <a:ext cx="5068956" cy="646331"/>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7</a:t>
            </a: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Recursive formulars for both function</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5" name="Picture 4">
            <a:extLst>
              <a:ext uri="{FF2B5EF4-FFF2-40B4-BE49-F238E27FC236}">
                <a16:creationId xmlns:a16="http://schemas.microsoft.com/office/drawing/2014/main" id="{9B97753E-3956-2CD5-05AD-45BA79AA80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069" y="2493511"/>
            <a:ext cx="8828219" cy="3549480"/>
          </a:xfrm>
          <a:prstGeom prst="rect">
            <a:avLst/>
          </a:prstGeom>
        </p:spPr>
      </p:pic>
    </p:spTree>
    <p:extLst>
      <p:ext uri="{BB962C8B-B14F-4D97-AF65-F5344CB8AC3E}">
        <p14:creationId xmlns:p14="http://schemas.microsoft.com/office/powerpoint/2010/main" val="1035178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9EE0C6-AF39-7FC1-532E-D9376C0DE551}"/>
              </a:ext>
            </a:extLst>
          </p:cNvPr>
          <p:cNvSpPr txBox="1"/>
          <p:nvPr/>
        </p:nvSpPr>
        <p:spPr>
          <a:xfrm>
            <a:off x="1063487" y="725560"/>
            <a:ext cx="4870174" cy="646331"/>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8: saving and running the code</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3" name="Picture 2">
            <a:extLst>
              <a:ext uri="{FF2B5EF4-FFF2-40B4-BE49-F238E27FC236}">
                <a16:creationId xmlns:a16="http://schemas.microsoft.com/office/drawing/2014/main" id="{672A9C81-E47F-9086-6BE1-9E76ECBCA6BF}"/>
              </a:ext>
            </a:extLst>
          </p:cNvPr>
          <p:cNvPicPr>
            <a:picLocks noChangeAspect="1"/>
          </p:cNvPicPr>
          <p:nvPr/>
        </p:nvPicPr>
        <p:blipFill>
          <a:blip r:embed="rId2"/>
          <a:stretch>
            <a:fillRect/>
          </a:stretch>
        </p:blipFill>
        <p:spPr>
          <a:xfrm>
            <a:off x="1123120" y="1123415"/>
            <a:ext cx="4870173" cy="909813"/>
          </a:xfrm>
          <a:prstGeom prst="rect">
            <a:avLst/>
          </a:prstGeom>
        </p:spPr>
      </p:pic>
      <p:sp>
        <p:nvSpPr>
          <p:cNvPr id="4" name="TextBox 3">
            <a:extLst>
              <a:ext uri="{FF2B5EF4-FFF2-40B4-BE49-F238E27FC236}">
                <a16:creationId xmlns:a16="http://schemas.microsoft.com/office/drawing/2014/main" id="{263CEB9A-1BAD-E5D1-39AE-156B526C14AA}"/>
              </a:ext>
            </a:extLst>
          </p:cNvPr>
          <p:cNvSpPr txBox="1"/>
          <p:nvPr/>
        </p:nvSpPr>
        <p:spPr>
          <a:xfrm>
            <a:off x="1076738" y="2189928"/>
            <a:ext cx="4870174" cy="369332"/>
          </a:xfrm>
          <a:prstGeom prst="rect">
            <a:avLst/>
          </a:prstGeom>
          <a:noFill/>
        </p:spPr>
        <p:txBody>
          <a:bodyPr wrap="square" rtlCol="0">
            <a:spAutoFit/>
          </a:bodyPr>
          <a:lstStyle/>
          <a:p>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Visualization </a:t>
            </a:r>
            <a:endParaRPr lang="en-UG" dirty="0"/>
          </a:p>
        </p:txBody>
      </p:sp>
      <p:pic>
        <p:nvPicPr>
          <p:cNvPr id="5" name="Picture 4">
            <a:extLst>
              <a:ext uri="{FF2B5EF4-FFF2-40B4-BE49-F238E27FC236}">
                <a16:creationId xmlns:a16="http://schemas.microsoft.com/office/drawing/2014/main" id="{2ACD5152-EC96-2AA4-2A09-B408466F8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2803" y="1973594"/>
            <a:ext cx="6154279" cy="4616050"/>
          </a:xfrm>
          <a:prstGeom prst="rect">
            <a:avLst/>
          </a:prstGeom>
        </p:spPr>
      </p:pic>
    </p:spTree>
    <p:extLst>
      <p:ext uri="{BB962C8B-B14F-4D97-AF65-F5344CB8AC3E}">
        <p14:creationId xmlns:p14="http://schemas.microsoft.com/office/powerpoint/2010/main" val="1640505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2E346-07E8-E6BE-6263-104566733E00}"/>
              </a:ext>
            </a:extLst>
          </p:cNvPr>
          <p:cNvSpPr>
            <a:spLocks noGrp="1"/>
          </p:cNvSpPr>
          <p:nvPr>
            <p:ph type="title"/>
          </p:nvPr>
        </p:nvSpPr>
        <p:spPr/>
        <p:txBody>
          <a:bodyPr/>
          <a:lstStyle/>
          <a:p>
            <a:r>
              <a:rPr lang="en-US" dirty="0">
                <a:solidFill>
                  <a:schemeClr val="tx1"/>
                </a:solidFill>
              </a:rPr>
              <a:t>QUESTION 2</a:t>
            </a:r>
            <a:endParaRPr lang="en-UG" dirty="0">
              <a:solidFill>
                <a:schemeClr val="tx1"/>
              </a:solidFill>
            </a:endParaRPr>
          </a:p>
        </p:txBody>
      </p:sp>
      <p:sp>
        <p:nvSpPr>
          <p:cNvPr id="3" name="Content Placeholder 2">
            <a:extLst>
              <a:ext uri="{FF2B5EF4-FFF2-40B4-BE49-F238E27FC236}">
                <a16:creationId xmlns:a16="http://schemas.microsoft.com/office/drawing/2014/main" id="{E32C9F75-5F59-93CA-8985-B3546C4FA081}"/>
              </a:ext>
            </a:extLst>
          </p:cNvPr>
          <p:cNvSpPr>
            <a:spLocks noGrp="1"/>
          </p:cNvSpPr>
          <p:nvPr>
            <p:ph idx="1"/>
          </p:nvPr>
        </p:nvSpPr>
        <p:spPr/>
        <p:txBody>
          <a:bodyPr/>
          <a:lstStyle/>
          <a:p>
            <a:pPr marL="0" indent="0">
              <a:buNone/>
            </a:pPr>
            <a:r>
              <a:rPr lang="en-US" b="1" dirty="0"/>
              <a:t>KNAPSACK PROBLEM</a:t>
            </a: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1; analysing the problem to be worked on</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2: writing functions for Knapsack in both recursive and dynamic programming</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US" b="1" dirty="0"/>
              <a:t>FIBONACCI PROBLEM</a:t>
            </a: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3: writing functions for Fibonacci in both recursive and dynamic programming</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4: testing and timing setup</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5: loops that run test and records times</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v"/>
            </a:pPr>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6: plotting both Knapsack and Fibonacci results</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v"/>
            </a:pPr>
            <a:endParaRPr lang="en-UG" b="1" dirty="0"/>
          </a:p>
        </p:txBody>
      </p:sp>
      <p:sp>
        <p:nvSpPr>
          <p:cNvPr id="4" name="TextBox 3">
            <a:extLst>
              <a:ext uri="{FF2B5EF4-FFF2-40B4-BE49-F238E27FC236}">
                <a16:creationId xmlns:a16="http://schemas.microsoft.com/office/drawing/2014/main" id="{6EB0BE1F-BABA-5AFF-CEA3-AF2CB828E468}"/>
              </a:ext>
            </a:extLst>
          </p:cNvPr>
          <p:cNvSpPr txBox="1"/>
          <p:nvPr/>
        </p:nvSpPr>
        <p:spPr>
          <a:xfrm>
            <a:off x="677334" y="1284069"/>
            <a:ext cx="8398565" cy="646331"/>
          </a:xfrm>
          <a:prstGeom prst="rect">
            <a:avLst/>
          </a:prstGeom>
          <a:noFill/>
        </p:spPr>
        <p:txBody>
          <a:bodyPr wrap="square" rtlCol="0">
            <a:spAutoFit/>
          </a:bodyPr>
          <a:lstStyle/>
          <a:p>
            <a:r>
              <a:rPr lang="en-US" dirty="0"/>
              <a:t>Solving the Knapsack problem, Fibonacci and comparing computation times using recursive and dynamic programming </a:t>
            </a:r>
            <a:endParaRPr lang="en-UG" dirty="0"/>
          </a:p>
        </p:txBody>
      </p:sp>
    </p:spTree>
    <p:extLst>
      <p:ext uri="{BB962C8B-B14F-4D97-AF65-F5344CB8AC3E}">
        <p14:creationId xmlns:p14="http://schemas.microsoft.com/office/powerpoint/2010/main" val="3274063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9C2862-076B-2DE9-A89A-8E363AA4720D}"/>
              </a:ext>
            </a:extLst>
          </p:cNvPr>
          <p:cNvSpPr txBox="1"/>
          <p:nvPr/>
        </p:nvSpPr>
        <p:spPr>
          <a:xfrm>
            <a:off x="1113183" y="874643"/>
            <a:ext cx="8378687" cy="1477328"/>
          </a:xfrm>
          <a:prstGeom prst="rect">
            <a:avLst/>
          </a:prstGeom>
          <a:noFill/>
        </p:spPr>
        <p:txBody>
          <a:bodyPr wrap="square" rtlCol="0">
            <a:spAutoFit/>
          </a:bodyPr>
          <a:lstStyle/>
          <a:p>
            <a:r>
              <a:rPr lang="en-US" b="1" dirty="0"/>
              <a:t>Step 1 explained</a:t>
            </a:r>
          </a:p>
          <a:p>
            <a:r>
              <a:rPr lang="en-UG" sz="1800" kern="100" dirty="0">
                <a:effectLst/>
                <a:latin typeface="Times New Roman" panose="02020603050405020304" pitchFamily="18" charset="0"/>
                <a:ea typeface="Aptos" panose="020B0004020202020204" pitchFamily="34" charset="0"/>
                <a:cs typeface="Times New Roman" panose="02020603050405020304" pitchFamily="18" charset="0"/>
              </a:rPr>
              <a:t>The codes were to compute the maximum value with capacity W, item weights </a:t>
            </a:r>
            <a:r>
              <a:rPr lang="en-UG" sz="1800" kern="100" dirty="0" err="1">
                <a:effectLst/>
                <a:latin typeface="Times New Roman" panose="02020603050405020304" pitchFamily="18" charset="0"/>
                <a:ea typeface="Aptos" panose="020B0004020202020204" pitchFamily="34" charset="0"/>
                <a:cs typeface="Times New Roman" panose="02020603050405020304" pitchFamily="18" charset="0"/>
              </a:rPr>
              <a:t>wt</a:t>
            </a:r>
            <a:r>
              <a:rPr lang="en-UG" sz="1800" kern="100" dirty="0">
                <a:effectLst/>
                <a:latin typeface="Times New Roman" panose="02020603050405020304" pitchFamily="18" charset="0"/>
                <a:ea typeface="Aptos" panose="020B0004020202020204" pitchFamily="34" charset="0"/>
                <a:cs typeface="Times New Roman" panose="02020603050405020304" pitchFamily="18" charset="0"/>
              </a:rPr>
              <a:t>, item values v, considering first n terms using both dynamic and recursive programming techniques</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sp>
        <p:nvSpPr>
          <p:cNvPr id="3" name="TextBox 2">
            <a:extLst>
              <a:ext uri="{FF2B5EF4-FFF2-40B4-BE49-F238E27FC236}">
                <a16:creationId xmlns:a16="http://schemas.microsoft.com/office/drawing/2014/main" id="{E99B39A0-15B0-A668-3124-805926BB1F13}"/>
              </a:ext>
            </a:extLst>
          </p:cNvPr>
          <p:cNvSpPr txBox="1"/>
          <p:nvPr/>
        </p:nvSpPr>
        <p:spPr>
          <a:xfrm>
            <a:off x="1113183" y="2246243"/>
            <a:ext cx="3488634" cy="369332"/>
          </a:xfrm>
          <a:prstGeom prst="rect">
            <a:avLst/>
          </a:prstGeom>
          <a:noFill/>
        </p:spPr>
        <p:txBody>
          <a:bodyPr wrap="square" rtlCol="0">
            <a:spAutoFit/>
          </a:bodyPr>
          <a:lstStyle/>
          <a:p>
            <a:r>
              <a:rPr lang="en-US" b="1" dirty="0"/>
              <a:t>Recursive programming </a:t>
            </a:r>
            <a:endParaRPr lang="en-UG" b="1" dirty="0"/>
          </a:p>
        </p:txBody>
      </p:sp>
      <p:pic>
        <p:nvPicPr>
          <p:cNvPr id="4" name="Picture 3">
            <a:extLst>
              <a:ext uri="{FF2B5EF4-FFF2-40B4-BE49-F238E27FC236}">
                <a16:creationId xmlns:a16="http://schemas.microsoft.com/office/drawing/2014/main" id="{FFF53910-C0C4-0357-408E-E92AE31746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1083" y="2929848"/>
            <a:ext cx="8172134" cy="2705639"/>
          </a:xfrm>
          <a:prstGeom prst="rect">
            <a:avLst/>
          </a:prstGeom>
        </p:spPr>
      </p:pic>
    </p:spTree>
    <p:extLst>
      <p:ext uri="{BB962C8B-B14F-4D97-AF65-F5344CB8AC3E}">
        <p14:creationId xmlns:p14="http://schemas.microsoft.com/office/powerpoint/2010/main" val="1290370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BE3A69-863E-935C-DECD-F79F572C589A}"/>
              </a:ext>
            </a:extLst>
          </p:cNvPr>
          <p:cNvSpPr txBox="1"/>
          <p:nvPr/>
        </p:nvSpPr>
        <p:spPr>
          <a:xfrm>
            <a:off x="884583" y="715617"/>
            <a:ext cx="3468756" cy="369332"/>
          </a:xfrm>
          <a:prstGeom prst="rect">
            <a:avLst/>
          </a:prstGeom>
          <a:noFill/>
        </p:spPr>
        <p:txBody>
          <a:bodyPr wrap="square" rtlCol="0">
            <a:spAutoFit/>
          </a:bodyPr>
          <a:lstStyle/>
          <a:p>
            <a:r>
              <a:rPr lang="en-US" b="1" dirty="0"/>
              <a:t>Dynamic programming </a:t>
            </a:r>
            <a:endParaRPr lang="en-UG" b="1" dirty="0"/>
          </a:p>
        </p:txBody>
      </p:sp>
      <p:pic>
        <p:nvPicPr>
          <p:cNvPr id="3" name="Picture 2">
            <a:extLst>
              <a:ext uri="{FF2B5EF4-FFF2-40B4-BE49-F238E27FC236}">
                <a16:creationId xmlns:a16="http://schemas.microsoft.com/office/drawing/2014/main" id="{0B409630-2FAE-8F92-AFFD-C3EF56EAA27C}"/>
              </a:ext>
            </a:extLst>
          </p:cNvPr>
          <p:cNvPicPr>
            <a:picLocks noChangeAspect="1"/>
          </p:cNvPicPr>
          <p:nvPr/>
        </p:nvPicPr>
        <p:blipFill>
          <a:blip r:embed="rId2"/>
          <a:stretch>
            <a:fillRect/>
          </a:stretch>
        </p:blipFill>
        <p:spPr>
          <a:xfrm>
            <a:off x="1006005" y="1436301"/>
            <a:ext cx="6915481" cy="2996892"/>
          </a:xfrm>
          <a:prstGeom prst="rect">
            <a:avLst/>
          </a:prstGeom>
        </p:spPr>
      </p:pic>
      <p:sp>
        <p:nvSpPr>
          <p:cNvPr id="4" name="TextBox 3">
            <a:extLst>
              <a:ext uri="{FF2B5EF4-FFF2-40B4-BE49-F238E27FC236}">
                <a16:creationId xmlns:a16="http://schemas.microsoft.com/office/drawing/2014/main" id="{F006E195-690A-0284-9DE4-0E624669E75E}"/>
              </a:ext>
            </a:extLst>
          </p:cNvPr>
          <p:cNvSpPr txBox="1"/>
          <p:nvPr/>
        </p:nvSpPr>
        <p:spPr>
          <a:xfrm>
            <a:off x="1006005" y="4731025"/>
            <a:ext cx="6915481" cy="923330"/>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3: writing functions for Fibonacci in both recursive and dynamic programming</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spTree>
    <p:extLst>
      <p:ext uri="{BB962C8B-B14F-4D97-AF65-F5344CB8AC3E}">
        <p14:creationId xmlns:p14="http://schemas.microsoft.com/office/powerpoint/2010/main" val="2558288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7D90-83D4-99B1-F02B-7D3811449001}"/>
              </a:ext>
            </a:extLst>
          </p:cNvPr>
          <p:cNvSpPr txBox="1"/>
          <p:nvPr/>
        </p:nvSpPr>
        <p:spPr>
          <a:xfrm>
            <a:off x="1500810" y="596346"/>
            <a:ext cx="3488634" cy="646331"/>
          </a:xfrm>
          <a:prstGeom prst="rect">
            <a:avLst/>
          </a:prstGeom>
          <a:noFill/>
        </p:spPr>
        <p:txBody>
          <a:bodyPr wrap="square" rtlCol="0">
            <a:spAutoFit/>
          </a:bodyPr>
          <a:lstStyle/>
          <a:p>
            <a:r>
              <a:rPr lang="en-US" b="1" dirty="0"/>
              <a:t>Recursive programming (for n=0, to n=1</a:t>
            </a:r>
            <a:endParaRPr lang="en-UG" b="1" dirty="0"/>
          </a:p>
        </p:txBody>
      </p:sp>
      <p:pic>
        <p:nvPicPr>
          <p:cNvPr id="3" name="Picture 2">
            <a:extLst>
              <a:ext uri="{FF2B5EF4-FFF2-40B4-BE49-F238E27FC236}">
                <a16:creationId xmlns:a16="http://schemas.microsoft.com/office/drawing/2014/main" id="{83649E98-60F6-B682-98D5-8AA81DB59EC9}"/>
              </a:ext>
            </a:extLst>
          </p:cNvPr>
          <p:cNvPicPr>
            <a:picLocks noChangeAspect="1"/>
          </p:cNvPicPr>
          <p:nvPr/>
        </p:nvPicPr>
        <p:blipFill>
          <a:blip r:embed="rId2"/>
          <a:stretch>
            <a:fillRect/>
          </a:stretch>
        </p:blipFill>
        <p:spPr>
          <a:xfrm>
            <a:off x="1550505" y="1365305"/>
            <a:ext cx="5088834" cy="1873052"/>
          </a:xfrm>
          <a:prstGeom prst="rect">
            <a:avLst/>
          </a:prstGeom>
        </p:spPr>
      </p:pic>
      <p:sp>
        <p:nvSpPr>
          <p:cNvPr id="4" name="TextBox 3">
            <a:extLst>
              <a:ext uri="{FF2B5EF4-FFF2-40B4-BE49-F238E27FC236}">
                <a16:creationId xmlns:a16="http://schemas.microsoft.com/office/drawing/2014/main" id="{A41A2C63-62DA-34DD-E5B8-D303D28081B1}"/>
              </a:ext>
            </a:extLst>
          </p:cNvPr>
          <p:cNvSpPr txBox="1"/>
          <p:nvPr/>
        </p:nvSpPr>
        <p:spPr>
          <a:xfrm>
            <a:off x="1500810" y="3434978"/>
            <a:ext cx="3289853" cy="369332"/>
          </a:xfrm>
          <a:prstGeom prst="rect">
            <a:avLst/>
          </a:prstGeom>
          <a:noFill/>
        </p:spPr>
        <p:txBody>
          <a:bodyPr wrap="square" rtlCol="0">
            <a:spAutoFit/>
          </a:bodyPr>
          <a:lstStyle/>
          <a:p>
            <a:r>
              <a:rPr lang="en-US" b="1" dirty="0"/>
              <a:t>Dynamic programming </a:t>
            </a:r>
            <a:endParaRPr lang="en-UG" b="1" dirty="0"/>
          </a:p>
        </p:txBody>
      </p:sp>
      <p:pic>
        <p:nvPicPr>
          <p:cNvPr id="5" name="Picture 4">
            <a:extLst>
              <a:ext uri="{FF2B5EF4-FFF2-40B4-BE49-F238E27FC236}">
                <a16:creationId xmlns:a16="http://schemas.microsoft.com/office/drawing/2014/main" id="{17D227DC-8FF8-C497-477C-E5DDDE42BE64}"/>
              </a:ext>
            </a:extLst>
          </p:cNvPr>
          <p:cNvPicPr>
            <a:picLocks noChangeAspect="1"/>
          </p:cNvPicPr>
          <p:nvPr/>
        </p:nvPicPr>
        <p:blipFill>
          <a:blip r:embed="rId3"/>
          <a:stretch>
            <a:fillRect/>
          </a:stretch>
        </p:blipFill>
        <p:spPr>
          <a:xfrm>
            <a:off x="1550504" y="4000931"/>
            <a:ext cx="5182645" cy="2370052"/>
          </a:xfrm>
          <a:prstGeom prst="rect">
            <a:avLst/>
          </a:prstGeom>
        </p:spPr>
      </p:pic>
    </p:spTree>
    <p:extLst>
      <p:ext uri="{BB962C8B-B14F-4D97-AF65-F5344CB8AC3E}">
        <p14:creationId xmlns:p14="http://schemas.microsoft.com/office/powerpoint/2010/main" val="3043514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D4AB53-7EA3-55D2-F239-BF556FC04646}"/>
              </a:ext>
            </a:extLst>
          </p:cNvPr>
          <p:cNvSpPr txBox="1"/>
          <p:nvPr/>
        </p:nvSpPr>
        <p:spPr>
          <a:xfrm>
            <a:off x="934278" y="636104"/>
            <a:ext cx="6261652" cy="1754326"/>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4: testing and timing setup</a:t>
            </a:r>
            <a:endParaRPr lang="en-US" sz="1800" b="1"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b="1" kern="100" dirty="0">
              <a:latin typeface="Times New Roman" panose="02020603050405020304" pitchFamily="18" charset="0"/>
              <a:ea typeface="Aptos" panose="020B0004020202020204" pitchFamily="34" charset="0"/>
              <a:cs typeface="Times New Roman" panose="02020603050405020304" pitchFamily="18" charset="0"/>
            </a:endParaRPr>
          </a:p>
          <a:p>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Using </a:t>
            </a:r>
            <a:r>
              <a:rPr lang="en-UG" sz="1800" kern="100" dirty="0">
                <a:effectLst/>
                <a:latin typeface="Times New Roman" panose="02020603050405020304" pitchFamily="18" charset="0"/>
                <a:ea typeface="Aptos" panose="020B0004020202020204" pitchFamily="34" charset="0"/>
                <a:cs typeface="Times New Roman" panose="02020603050405020304" pitchFamily="18" charset="0"/>
              </a:rPr>
              <a:t>n values from 10-30, pre allocated arrays to store execution times for each method problem.</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3" name="Picture 2">
            <a:extLst>
              <a:ext uri="{FF2B5EF4-FFF2-40B4-BE49-F238E27FC236}">
                <a16:creationId xmlns:a16="http://schemas.microsoft.com/office/drawing/2014/main" id="{5E9E2D51-EE13-0F8D-BDF1-0376BA70AF93}"/>
              </a:ext>
            </a:extLst>
          </p:cNvPr>
          <p:cNvPicPr>
            <a:picLocks noChangeAspect="1"/>
          </p:cNvPicPr>
          <p:nvPr/>
        </p:nvPicPr>
        <p:blipFill>
          <a:blip r:embed="rId2"/>
          <a:stretch>
            <a:fillRect/>
          </a:stretch>
        </p:blipFill>
        <p:spPr>
          <a:xfrm>
            <a:off x="1009816" y="1923294"/>
            <a:ext cx="6474350" cy="1701063"/>
          </a:xfrm>
          <a:prstGeom prst="rect">
            <a:avLst/>
          </a:prstGeom>
        </p:spPr>
      </p:pic>
      <p:sp>
        <p:nvSpPr>
          <p:cNvPr id="4" name="TextBox 3">
            <a:extLst>
              <a:ext uri="{FF2B5EF4-FFF2-40B4-BE49-F238E27FC236}">
                <a16:creationId xmlns:a16="http://schemas.microsoft.com/office/drawing/2014/main" id="{56EF90BF-8EFA-4C91-63A0-720619EDDF17}"/>
              </a:ext>
            </a:extLst>
          </p:cNvPr>
          <p:cNvSpPr txBox="1"/>
          <p:nvPr/>
        </p:nvSpPr>
        <p:spPr>
          <a:xfrm>
            <a:off x="1033671" y="3717240"/>
            <a:ext cx="6052930" cy="646331"/>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5: loops that run test and records times</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5" name="Picture 4">
            <a:extLst>
              <a:ext uri="{FF2B5EF4-FFF2-40B4-BE49-F238E27FC236}">
                <a16:creationId xmlns:a16="http://schemas.microsoft.com/office/drawing/2014/main" id="{1E3BA3A0-BBC6-2A19-69B2-6EFF42A216E0}"/>
              </a:ext>
            </a:extLst>
          </p:cNvPr>
          <p:cNvPicPr>
            <a:picLocks noChangeAspect="1"/>
          </p:cNvPicPr>
          <p:nvPr/>
        </p:nvPicPr>
        <p:blipFill>
          <a:blip r:embed="rId3"/>
          <a:stretch>
            <a:fillRect/>
          </a:stretch>
        </p:blipFill>
        <p:spPr>
          <a:xfrm>
            <a:off x="1033670" y="4184666"/>
            <a:ext cx="7595573" cy="2265829"/>
          </a:xfrm>
          <a:prstGeom prst="rect">
            <a:avLst/>
          </a:prstGeom>
        </p:spPr>
      </p:pic>
    </p:spTree>
    <p:extLst>
      <p:ext uri="{BB962C8B-B14F-4D97-AF65-F5344CB8AC3E}">
        <p14:creationId xmlns:p14="http://schemas.microsoft.com/office/powerpoint/2010/main" val="3517501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BC7DEA-F8E2-8FEC-E60F-6D67270EE6A2}"/>
              </a:ext>
            </a:extLst>
          </p:cNvPr>
          <p:cNvSpPr txBox="1"/>
          <p:nvPr/>
        </p:nvSpPr>
        <p:spPr>
          <a:xfrm>
            <a:off x="745435" y="447261"/>
            <a:ext cx="6440556" cy="646331"/>
          </a:xfrm>
          <a:prstGeom prst="rect">
            <a:avLst/>
          </a:prstGeom>
          <a:noFill/>
        </p:spPr>
        <p:txBody>
          <a:bodyPr wrap="square" rtlCol="0">
            <a:spAutoFit/>
          </a:bodyPr>
          <a:lstStyle/>
          <a:p>
            <a:r>
              <a:rPr lang="en-UG" sz="1800" b="1" kern="100" dirty="0">
                <a:effectLst/>
                <a:latin typeface="Times New Roman" panose="02020603050405020304" pitchFamily="18" charset="0"/>
                <a:ea typeface="Aptos" panose="020B0004020202020204" pitchFamily="34" charset="0"/>
                <a:cs typeface="Times New Roman" panose="02020603050405020304" pitchFamily="18" charset="0"/>
              </a:rPr>
              <a:t>Step 6: plotting both Knapsack and Fibonacci results</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pic>
        <p:nvPicPr>
          <p:cNvPr id="3" name="Picture 2">
            <a:extLst>
              <a:ext uri="{FF2B5EF4-FFF2-40B4-BE49-F238E27FC236}">
                <a16:creationId xmlns:a16="http://schemas.microsoft.com/office/drawing/2014/main" id="{B7980FFA-A915-C07D-654B-233906F146FD}"/>
              </a:ext>
            </a:extLst>
          </p:cNvPr>
          <p:cNvPicPr>
            <a:picLocks noChangeAspect="1"/>
          </p:cNvPicPr>
          <p:nvPr/>
        </p:nvPicPr>
        <p:blipFill>
          <a:blip r:embed="rId2"/>
          <a:stretch>
            <a:fillRect/>
          </a:stretch>
        </p:blipFill>
        <p:spPr>
          <a:xfrm>
            <a:off x="745435" y="903922"/>
            <a:ext cx="9735303" cy="1322445"/>
          </a:xfrm>
          <a:prstGeom prst="rect">
            <a:avLst/>
          </a:prstGeom>
        </p:spPr>
      </p:pic>
      <p:sp>
        <p:nvSpPr>
          <p:cNvPr id="4" name="TextBox 3">
            <a:extLst>
              <a:ext uri="{FF2B5EF4-FFF2-40B4-BE49-F238E27FC236}">
                <a16:creationId xmlns:a16="http://schemas.microsoft.com/office/drawing/2014/main" id="{D745639F-575E-10F5-71F5-18446016824B}"/>
              </a:ext>
            </a:extLst>
          </p:cNvPr>
          <p:cNvSpPr txBox="1"/>
          <p:nvPr/>
        </p:nvSpPr>
        <p:spPr>
          <a:xfrm>
            <a:off x="3700669" y="2230548"/>
            <a:ext cx="4790661" cy="369332"/>
          </a:xfrm>
          <a:prstGeom prst="rect">
            <a:avLst/>
          </a:prstGeom>
          <a:noFill/>
        </p:spPr>
        <p:txBody>
          <a:bodyPr wrap="square" rtlCol="0">
            <a:spAutoFit/>
          </a:bodyPr>
          <a:lstStyle/>
          <a:p>
            <a:r>
              <a:rPr lang="en-US" b="1" dirty="0"/>
              <a:t>Running the code</a:t>
            </a:r>
            <a:endParaRPr lang="en-UG" b="1" dirty="0"/>
          </a:p>
        </p:txBody>
      </p:sp>
      <p:pic>
        <p:nvPicPr>
          <p:cNvPr id="5" name="Picture 4">
            <a:extLst>
              <a:ext uri="{FF2B5EF4-FFF2-40B4-BE49-F238E27FC236}">
                <a16:creationId xmlns:a16="http://schemas.microsoft.com/office/drawing/2014/main" id="{F3FA7D04-AAF1-FD62-D70A-1808085D8B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7057" y="2915550"/>
            <a:ext cx="4061474" cy="3046811"/>
          </a:xfrm>
          <a:prstGeom prst="rect">
            <a:avLst/>
          </a:prstGeom>
        </p:spPr>
      </p:pic>
      <p:pic>
        <p:nvPicPr>
          <p:cNvPr id="6" name="Picture 5">
            <a:extLst>
              <a:ext uri="{FF2B5EF4-FFF2-40B4-BE49-F238E27FC236}">
                <a16:creationId xmlns:a16="http://schemas.microsoft.com/office/drawing/2014/main" id="{BD1786A2-0274-FA1B-AADC-65B6207DED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93078" y="2915551"/>
            <a:ext cx="4062413" cy="3046810"/>
          </a:xfrm>
          <a:prstGeom prst="rect">
            <a:avLst/>
          </a:prstGeom>
        </p:spPr>
      </p:pic>
    </p:spTree>
    <p:extLst>
      <p:ext uri="{BB962C8B-B14F-4D97-AF65-F5344CB8AC3E}">
        <p14:creationId xmlns:p14="http://schemas.microsoft.com/office/powerpoint/2010/main" val="2188008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C57-C885-D406-E89D-463188145F3D}"/>
              </a:ext>
            </a:extLst>
          </p:cNvPr>
          <p:cNvSpPr>
            <a:spLocks noGrp="1"/>
          </p:cNvSpPr>
          <p:nvPr>
            <p:ph type="title"/>
          </p:nvPr>
        </p:nvSpPr>
        <p:spPr>
          <a:xfrm>
            <a:off x="677334" y="997226"/>
            <a:ext cx="8596668" cy="1320800"/>
          </a:xfrm>
        </p:spPr>
        <p:txBody>
          <a:bodyPr/>
          <a:lstStyle/>
          <a:p>
            <a:r>
              <a:rPr lang="en-US" dirty="0"/>
              <a:t>conclusion</a:t>
            </a:r>
            <a:endParaRPr lang="en-UG" dirty="0"/>
          </a:p>
        </p:txBody>
      </p:sp>
      <p:sp>
        <p:nvSpPr>
          <p:cNvPr id="3" name="Content Placeholder 2">
            <a:extLst>
              <a:ext uri="{FF2B5EF4-FFF2-40B4-BE49-F238E27FC236}">
                <a16:creationId xmlns:a16="http://schemas.microsoft.com/office/drawing/2014/main" id="{4B73126F-7310-ED31-6C18-26AF0BFC7A7B}"/>
              </a:ext>
            </a:extLst>
          </p:cNvPr>
          <p:cNvSpPr>
            <a:spLocks noGrp="1"/>
          </p:cNvSpPr>
          <p:nvPr>
            <p:ph idx="1"/>
          </p:nvPr>
        </p:nvSpPr>
        <p:spPr/>
        <p:txBody>
          <a:bodyPr/>
          <a:lstStyle/>
          <a:p>
            <a:pPr marL="0" indent="0">
              <a:buNone/>
            </a:pPr>
            <a:r>
              <a:rPr lang="en-UG" sz="1800" kern="100" dirty="0">
                <a:effectLst/>
                <a:latin typeface="Times New Roman" panose="02020603050405020304" pitchFamily="18" charset="0"/>
                <a:ea typeface="Aptos" panose="020B0004020202020204" pitchFamily="34" charset="0"/>
                <a:cs typeface="Times New Roman" panose="02020603050405020304" pitchFamily="18" charset="0"/>
              </a:rPr>
              <a:t>Dynamic programming (DP) is far superior to naive recursion for problems with overlapping subproblems, like Fibonacci and Knapsack. Graphs show DP's time grows slowly, while naive recursion becomes too slow for larger inputs. The trade-off of using extra memory for massive speed gains is justified</a:t>
            </a:r>
            <a:endParaRPr lang="en-UG"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G" dirty="0"/>
          </a:p>
        </p:txBody>
      </p:sp>
      <p:sp>
        <p:nvSpPr>
          <p:cNvPr id="5" name="TextBox 4">
            <a:extLst>
              <a:ext uri="{FF2B5EF4-FFF2-40B4-BE49-F238E27FC236}">
                <a16:creationId xmlns:a16="http://schemas.microsoft.com/office/drawing/2014/main" id="{E4332E20-139A-438B-1BC7-BEA30FE3E715}"/>
              </a:ext>
            </a:extLst>
          </p:cNvPr>
          <p:cNvSpPr txBox="1"/>
          <p:nvPr/>
        </p:nvSpPr>
        <p:spPr>
          <a:xfrm>
            <a:off x="7091569" y="5029198"/>
            <a:ext cx="3513483" cy="369332"/>
          </a:xfrm>
          <a:prstGeom prst="rect">
            <a:avLst/>
          </a:prstGeom>
          <a:noFill/>
        </p:spPr>
        <p:txBody>
          <a:bodyPr wrap="square" rtlCol="0">
            <a:spAutoFit/>
          </a:bodyPr>
          <a:lstStyle/>
          <a:p>
            <a:r>
              <a:rPr lang="en-US" b="1" dirty="0"/>
              <a:t>THANK YOU</a:t>
            </a:r>
            <a:endParaRPr lang="en-UG" b="1" dirty="0"/>
          </a:p>
        </p:txBody>
      </p:sp>
    </p:spTree>
    <p:extLst>
      <p:ext uri="{BB962C8B-B14F-4D97-AF65-F5344CB8AC3E}">
        <p14:creationId xmlns:p14="http://schemas.microsoft.com/office/powerpoint/2010/main" val="1912760575"/>
      </p:ext>
    </p:extLst>
  </p:cSld>
  <p:clrMapOvr>
    <a:masterClrMapping/>
  </p:clrMapOvr>
</p:sld>
</file>

<file path=ppt/theme/theme1.xml><?xml version="1.0" encoding="utf-8"?>
<a:theme xmlns:a="http://schemas.openxmlformats.org/drawingml/2006/main" name="Facet">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397</TotalTime>
  <Words>775</Words>
  <Application>Microsoft Office PowerPoint</Application>
  <PresentationFormat>Widescreen</PresentationFormat>
  <Paragraphs>140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Arial</vt:lpstr>
      <vt:lpstr>Calibri</vt:lpstr>
      <vt:lpstr>Cambria Math</vt:lpstr>
      <vt:lpstr>Times New Roman</vt:lpstr>
      <vt:lpstr>Wingdings</vt:lpstr>
      <vt:lpstr>Wingdings 3</vt:lpstr>
      <vt:lpstr>Facet</vt:lpstr>
      <vt:lpstr>MATLAB ASSIGNMENT 4</vt:lpstr>
      <vt:lpstr>GROUP 16 MEMBERS</vt:lpstr>
      <vt:lpstr>NUMBER ONE</vt:lpstr>
      <vt:lpstr>WORKING PROCEDURE </vt:lpstr>
      <vt:lpstr>PowerPoint Presentation</vt:lpstr>
      <vt:lpstr>PowerPoint Presentation</vt:lpstr>
      <vt:lpstr>PowerPoint Presentation</vt:lpstr>
      <vt:lpstr>PowerPoint Presentation</vt:lpstr>
      <vt:lpstr>QUESTION 2</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MATLAB ASIGNMENT</dc:title>
  <dc:creator>sidenyak@gmail.com</dc:creator>
  <cp:lastModifiedBy>Kabweru Andrew</cp:lastModifiedBy>
  <cp:revision>39</cp:revision>
  <dcterms:created xsi:type="dcterms:W3CDTF">2025-09-09T18:30:05Z</dcterms:created>
  <dcterms:modified xsi:type="dcterms:W3CDTF">2025-10-21T10:23:16Z</dcterms:modified>
</cp:coreProperties>
</file>