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4"/>
  </p:notesMasterIdLst>
  <p:sldIdLst>
    <p:sldId id="256" r:id="rId2"/>
    <p:sldId id="257" r:id="rId3"/>
    <p:sldId id="258" r:id="rId4"/>
    <p:sldId id="259"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277" r:id="rId22"/>
    <p:sldId id="29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7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EE4993-02C8-4FA4-B0C0-D16F521A99BE}"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FF1B2-3EC0-4CA9-A8A6-56DFCA6B1FFF}" type="slidenum">
              <a:rPr lang="en-US" smtClean="0"/>
              <a:t>‹#›</a:t>
            </a:fld>
            <a:endParaRPr lang="en-US"/>
          </a:p>
        </p:txBody>
      </p:sp>
    </p:spTree>
    <p:extLst>
      <p:ext uri="{BB962C8B-B14F-4D97-AF65-F5344CB8AC3E}">
        <p14:creationId xmlns:p14="http://schemas.microsoft.com/office/powerpoint/2010/main" val="4292524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59017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13198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61610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682315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8" name="Footer Placeholder 7"/>
          <p:cNvSpPr>
            <a:spLocks noGrp="1"/>
          </p:cNvSpPr>
          <p:nvPr>
            <p:ph type="ftr" sz="quarter" idx="11"/>
          </p:nvPr>
        </p:nvSpPr>
        <p:spPr/>
        <p:txBody>
          <a:bodyPr/>
          <a:lstStyle/>
          <a:p>
            <a:endParaRPr lang="en-UG" dirty="0"/>
          </a:p>
        </p:txBody>
      </p:sp>
      <p:sp>
        <p:nvSpPr>
          <p:cNvPr id="9" name="Slide Number Placeholder 8"/>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783333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4" name="Footer Placeholder 3"/>
          <p:cNvSpPr>
            <a:spLocks noGrp="1"/>
          </p:cNvSpPr>
          <p:nvPr>
            <p:ph type="ftr" sz="quarter" idx="11"/>
          </p:nvPr>
        </p:nvSpPr>
        <p:spPr/>
        <p:txBody>
          <a:bodyPr/>
          <a:lstStyle/>
          <a:p>
            <a:endParaRPr lang="en-UG" dirty="0"/>
          </a:p>
        </p:txBody>
      </p:sp>
      <p:sp>
        <p:nvSpPr>
          <p:cNvPr id="5" name="Slide Number Placeholder 4"/>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7183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3" name="Footer Placeholder 2"/>
          <p:cNvSpPr>
            <a:spLocks noGrp="1"/>
          </p:cNvSpPr>
          <p:nvPr>
            <p:ph type="ftr" sz="quarter" idx="11"/>
          </p:nvPr>
        </p:nvSpPr>
        <p:spPr/>
        <p:txBody>
          <a:bodyPr/>
          <a:lstStyle/>
          <a:p>
            <a:endParaRPr lang="en-UG" dirty="0"/>
          </a:p>
        </p:txBody>
      </p:sp>
      <p:sp>
        <p:nvSpPr>
          <p:cNvPr id="4" name="Slide Number Placeholder 3"/>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880825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149064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710243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421535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40889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5544859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416102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468128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565965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11/11/2025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205943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9035DA8-7389-492B-8586-63D3F496E9F3}" type="datetimeFigureOut">
              <a:rPr lang="en-UG" smtClean="0"/>
              <a:t>11/11/2025</a:t>
            </a:fld>
            <a:endParaRPr lang="en-UG"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G"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14D1F6C-92F9-40DD-970C-12E8E221DC95}" type="slidenum">
              <a:rPr lang="en-UG" smtClean="0"/>
              <a:t>‹#›</a:t>
            </a:fld>
            <a:endParaRPr lang="en-UG" dirty="0"/>
          </a:p>
        </p:txBody>
      </p:sp>
    </p:spTree>
    <p:extLst>
      <p:ext uri="{BB962C8B-B14F-4D97-AF65-F5344CB8AC3E}">
        <p14:creationId xmlns:p14="http://schemas.microsoft.com/office/powerpoint/2010/main" val="9691636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wangusid22/WANGUSI-DAVID.git" TargetMode="External"/><Relationship Id="rId3" Type="http://schemas.openxmlformats.org/officeDocument/2006/relationships/hyperlink" Target="https://github.com/Chemonges-mikirar/Chemonges" TargetMode="External"/><Relationship Id="rId7" Type="http://schemas.openxmlformats.org/officeDocument/2006/relationships/hyperlink" Target="https://github.com/oulesadock25/Oule-Sadock-.git" TargetMode="External"/><Relationship Id="rId2" Type="http://schemas.openxmlformats.org/officeDocument/2006/relationships/hyperlink" Target="https://github.com/kabweruandrew39-alt/Andrew.git" TargetMode="External"/><Relationship Id="rId1" Type="http://schemas.openxmlformats.org/officeDocument/2006/relationships/slideLayout" Target="../slideLayouts/slideLayout2.xml"/><Relationship Id="rId6" Type="http://schemas.openxmlformats.org/officeDocument/2006/relationships/hyperlink" Target="https://github.com/joysanyu22-cell/SANYU-JOY.git" TargetMode="External"/><Relationship Id="rId11" Type="http://schemas.openxmlformats.org/officeDocument/2006/relationships/hyperlink" Target="https://github.com/leonardkitutu1-hue/leonard-kitutu.git" TargetMode="External"/><Relationship Id="rId5" Type="http://schemas.openxmlformats.org/officeDocument/2006/relationships/hyperlink" Target="https://github.com/JOHNDIKITAL/johndikitalmatlab.git" TargetMode="External"/><Relationship Id="rId10" Type="http://schemas.openxmlformats.org/officeDocument/2006/relationships/hyperlink" Target="https://github.com/mildredmoreen/ATYANG-MILDRED-.git" TargetMode="External"/><Relationship Id="rId4" Type="http://schemas.openxmlformats.org/officeDocument/2006/relationships/hyperlink" Target="https://github.com/Nagasharitah/Nagasha-Ritta.git" TargetMode="External"/><Relationship Id="rId9" Type="http://schemas.openxmlformats.org/officeDocument/2006/relationships/hyperlink" Target="https://github.com/SebyatikaColline/Sebyatika-Colline.g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D1EA-DCF0-B7FC-72E4-ADB92D300DA4}"/>
              </a:ext>
            </a:extLst>
          </p:cNvPr>
          <p:cNvSpPr>
            <a:spLocks noGrp="1"/>
          </p:cNvSpPr>
          <p:nvPr>
            <p:ph type="ctrTitle"/>
          </p:nvPr>
        </p:nvSpPr>
        <p:spPr>
          <a:xfrm>
            <a:off x="1507067" y="1782698"/>
            <a:ext cx="7766936" cy="1646302"/>
          </a:xfrm>
        </p:spPr>
        <p:txBody>
          <a:bodyPr/>
          <a:lstStyle/>
          <a:p>
            <a:r>
              <a:rPr lang="en-US" dirty="0">
                <a:solidFill>
                  <a:schemeClr val="tx1"/>
                </a:solidFill>
              </a:rPr>
              <a:t>MATLAB ASSIGNMENT </a:t>
            </a:r>
            <a:r>
              <a:rPr lang="en-US" dirty="0" smtClean="0">
                <a:solidFill>
                  <a:schemeClr val="tx1"/>
                </a:solidFill>
              </a:rPr>
              <a:t>5.2</a:t>
            </a:r>
            <a:endParaRPr lang="en-UG" dirty="0">
              <a:solidFill>
                <a:schemeClr val="tx1"/>
              </a:solidFill>
            </a:endParaRPr>
          </a:p>
        </p:txBody>
      </p:sp>
      <p:sp>
        <p:nvSpPr>
          <p:cNvPr id="3" name="Subtitle 2">
            <a:extLst>
              <a:ext uri="{FF2B5EF4-FFF2-40B4-BE49-F238E27FC236}">
                <a16:creationId xmlns:a16="http://schemas.microsoft.com/office/drawing/2014/main" id="{ACD7C6C8-6746-D4F5-A97C-1107C43350CD}"/>
              </a:ext>
            </a:extLst>
          </p:cNvPr>
          <p:cNvSpPr>
            <a:spLocks noGrp="1"/>
          </p:cNvSpPr>
          <p:nvPr>
            <p:ph type="subTitle" idx="1"/>
          </p:nvPr>
        </p:nvSpPr>
        <p:spPr>
          <a:xfrm>
            <a:off x="1507067" y="3639353"/>
            <a:ext cx="7766936" cy="1096899"/>
          </a:xfrm>
        </p:spPr>
        <p:txBody>
          <a:bodyPr/>
          <a:lstStyle/>
          <a:p>
            <a:r>
              <a:rPr lang="en-US" b="1" dirty="0">
                <a:solidFill>
                  <a:schemeClr val="tx1"/>
                </a:solidFill>
              </a:rPr>
              <a:t>GROUP 16</a:t>
            </a:r>
            <a:endParaRPr lang="en-UG" b="1" dirty="0">
              <a:solidFill>
                <a:schemeClr val="tx1"/>
              </a:solidFill>
            </a:endParaRPr>
          </a:p>
        </p:txBody>
      </p:sp>
    </p:spTree>
    <p:extLst>
      <p:ext uri="{BB962C8B-B14F-4D97-AF65-F5344CB8AC3E}">
        <p14:creationId xmlns:p14="http://schemas.microsoft.com/office/powerpoint/2010/main" val="2336355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B9AA-388A-7E40-4A1F-BEB8F43EED78}"/>
              </a:ext>
            </a:extLst>
          </p:cNvPr>
          <p:cNvSpPr>
            <a:spLocks noGrp="1"/>
          </p:cNvSpPr>
          <p:nvPr>
            <p:ph type="title"/>
          </p:nvPr>
        </p:nvSpPr>
        <p:spPr>
          <a:xfrm>
            <a:off x="713910" y="408432"/>
            <a:ext cx="8596668" cy="1320800"/>
          </a:xfrm>
        </p:spPr>
        <p:txBody>
          <a:bodyPr/>
          <a:lstStyle/>
          <a:p>
            <a:r>
              <a:rPr lang="en-US" dirty="0">
                <a:solidFill>
                  <a:schemeClr val="tx1"/>
                </a:solidFill>
              </a:rPr>
              <a:t>GROUP 16 MEMBERS</a:t>
            </a:r>
            <a:endParaRPr lang="en-UG" dirty="0">
              <a:solidFill>
                <a:schemeClr val="tx1"/>
              </a:solidFill>
            </a:endParaRPr>
          </a:p>
        </p:txBody>
      </p:sp>
      <p:graphicFrame>
        <p:nvGraphicFramePr>
          <p:cNvPr id="5" name="Content Placeholder 4">
            <a:extLst>
              <a:ext uri="{FF2B5EF4-FFF2-40B4-BE49-F238E27FC236}">
                <a16:creationId xmlns:a16="http://schemas.microsoft.com/office/drawing/2014/main" id="{65B6B581-ECDC-4935-8CC1-2563A89987D3}"/>
              </a:ext>
            </a:extLst>
          </p:cNvPr>
          <p:cNvGraphicFramePr>
            <a:graphicFrameLocks noGrp="1"/>
          </p:cNvGraphicFramePr>
          <p:nvPr>
            <p:ph idx="1"/>
            <p:extLst>
              <p:ext uri="{D42A27DB-BD31-4B8C-83A1-F6EECF244321}">
                <p14:modId xmlns:p14="http://schemas.microsoft.com/office/powerpoint/2010/main" val="2627065743"/>
              </p:ext>
            </p:extLst>
          </p:nvPr>
        </p:nvGraphicFramePr>
        <p:xfrm>
          <a:off x="1637746" y="1189609"/>
          <a:ext cx="7506335" cy="3785616"/>
        </p:xfrm>
        <a:graphic>
          <a:graphicData uri="http://schemas.openxmlformats.org/drawingml/2006/table">
            <a:tbl>
              <a:tblPr firstRow="1" firstCol="1" bandRow="1">
                <a:tableStyleId>{5C22544A-7EE6-4342-B048-85BDC9FD1C3A}</a:tableStyleId>
              </a:tblPr>
              <a:tblGrid>
                <a:gridCol w="379730">
                  <a:extLst>
                    <a:ext uri="{9D8B030D-6E8A-4147-A177-3AD203B41FA5}">
                      <a16:colId xmlns:a16="http://schemas.microsoft.com/office/drawing/2014/main" val="932862360"/>
                    </a:ext>
                  </a:extLst>
                </a:gridCol>
                <a:gridCol w="1205230">
                  <a:extLst>
                    <a:ext uri="{9D8B030D-6E8A-4147-A177-3AD203B41FA5}">
                      <a16:colId xmlns:a16="http://schemas.microsoft.com/office/drawing/2014/main" val="62752626"/>
                    </a:ext>
                  </a:extLst>
                </a:gridCol>
                <a:gridCol w="1306830">
                  <a:extLst>
                    <a:ext uri="{9D8B030D-6E8A-4147-A177-3AD203B41FA5}">
                      <a16:colId xmlns:a16="http://schemas.microsoft.com/office/drawing/2014/main" val="175901040"/>
                    </a:ext>
                  </a:extLst>
                </a:gridCol>
                <a:gridCol w="655320">
                  <a:extLst>
                    <a:ext uri="{9D8B030D-6E8A-4147-A177-3AD203B41FA5}">
                      <a16:colId xmlns:a16="http://schemas.microsoft.com/office/drawing/2014/main" val="3463949964"/>
                    </a:ext>
                  </a:extLst>
                </a:gridCol>
                <a:gridCol w="413385">
                  <a:extLst>
                    <a:ext uri="{9D8B030D-6E8A-4147-A177-3AD203B41FA5}">
                      <a16:colId xmlns:a16="http://schemas.microsoft.com/office/drawing/2014/main" val="1520390819"/>
                    </a:ext>
                  </a:extLst>
                </a:gridCol>
                <a:gridCol w="3545840">
                  <a:extLst>
                    <a:ext uri="{9D8B030D-6E8A-4147-A177-3AD203B41FA5}">
                      <a16:colId xmlns:a16="http://schemas.microsoft.com/office/drawing/2014/main" val="3511333902"/>
                    </a:ext>
                  </a:extLst>
                </a:gridCol>
              </a:tblGrid>
              <a:tr h="0">
                <a:tc>
                  <a:txBody>
                    <a:bodyPr/>
                    <a:lstStyle/>
                    <a:p>
                      <a:pPr marL="0" marR="0" algn="just">
                        <a:lnSpc>
                          <a:spcPct val="115000"/>
                        </a:lnSpc>
                        <a:spcBef>
                          <a:spcPts val="0"/>
                        </a:spcBef>
                        <a:spcAft>
                          <a:spcPts val="0"/>
                        </a:spcAft>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STUDENT NAME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REG. 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COURSE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SEX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GITHUB LINK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5369077"/>
                  </a:ext>
                </a:extLst>
              </a:tr>
              <a:tr h="0">
                <a:tc>
                  <a:txBody>
                    <a:bodyPr/>
                    <a:lstStyle/>
                    <a:p>
                      <a:pPr marL="0" marR="0" algn="just">
                        <a:lnSpc>
                          <a:spcPct val="115000"/>
                        </a:lnSpc>
                        <a:spcBef>
                          <a:spcPts val="0"/>
                        </a:spcBef>
                        <a:spcAft>
                          <a:spcPts val="0"/>
                        </a:spcAft>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KABWERU ANDREW</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BU/UG/2024/5057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2"/>
                        </a:rPr>
                        <a:t>https://github.com/kabweruandrew39-alt/Andrew.git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8981123"/>
                  </a:ext>
                </a:extLst>
              </a:tr>
              <a:tr h="0">
                <a:tc>
                  <a:txBody>
                    <a:bodyPr/>
                    <a:lstStyle/>
                    <a:p>
                      <a:pPr marL="0" marR="0" algn="just">
                        <a:lnSpc>
                          <a:spcPct val="115000"/>
                        </a:lnSpc>
                        <a:spcBef>
                          <a:spcPts val="0"/>
                        </a:spcBef>
                        <a:spcAft>
                          <a:spcPts val="0"/>
                        </a:spcAft>
                      </a:pPr>
                      <a:r>
                        <a:rPr lang="en-US" sz="1200" kern="100">
                          <a:effectLst/>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CHEMONGES MIKIRAR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BU/UP/2024/1005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3"/>
                        </a:rPr>
                        <a:t>https://github.com/Chemonges-mikirar/Chemonges</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8789875"/>
                  </a:ext>
                </a:extLst>
              </a:tr>
              <a:tr h="0">
                <a:tc>
                  <a:txBody>
                    <a:bodyPr/>
                    <a:lstStyle/>
                    <a:p>
                      <a:pPr marL="0" marR="0" algn="just">
                        <a:lnSpc>
                          <a:spcPct val="115000"/>
                        </a:lnSpc>
                        <a:spcBef>
                          <a:spcPts val="0"/>
                        </a:spcBef>
                        <a:spcAft>
                          <a:spcPts val="0"/>
                        </a:spcAft>
                      </a:pPr>
                      <a:r>
                        <a:rPr lang="en-US" sz="1200" kern="100">
                          <a:effectLst/>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NAGASHA RITTA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BU/UG/2024/5055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4"/>
                        </a:rPr>
                        <a:t>https://github.com/Nagasharitah/Nagasha-Ritta.git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871901"/>
                  </a:ext>
                </a:extLst>
              </a:tr>
              <a:tr h="0">
                <a:tc>
                  <a:txBody>
                    <a:bodyPr/>
                    <a:lstStyle/>
                    <a:p>
                      <a:pPr marL="0" marR="0" algn="just">
                        <a:lnSpc>
                          <a:spcPct val="115000"/>
                        </a:lnSpc>
                        <a:spcBef>
                          <a:spcPts val="0"/>
                        </a:spcBef>
                        <a:spcAft>
                          <a:spcPts val="0"/>
                        </a:spcAft>
                      </a:pPr>
                      <a:r>
                        <a:rPr lang="en-US" sz="1200" kern="100">
                          <a:effectLst/>
                        </a:rPr>
                        <a:t>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DIKITAL JOHN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BU/UP/2024/1125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5"/>
                        </a:rPr>
                        <a:t>https://github.com/JOHNDIKITAL/johndikitalmatlab.git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819763"/>
                  </a:ext>
                </a:extLst>
              </a:tr>
              <a:tr h="0">
                <a:tc>
                  <a:txBody>
                    <a:bodyPr/>
                    <a:lstStyle/>
                    <a:p>
                      <a:pPr marL="0" marR="0" algn="just">
                        <a:lnSpc>
                          <a:spcPct val="115000"/>
                        </a:lnSpc>
                        <a:spcBef>
                          <a:spcPts val="0"/>
                        </a:spcBef>
                        <a:spcAft>
                          <a:spcPts val="0"/>
                        </a:spcAft>
                      </a:pPr>
                      <a:r>
                        <a:rPr lang="en-US" sz="1200" kern="100">
                          <a:effectLst/>
                        </a:rPr>
                        <a:t>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SANYU JOY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BU/UP/2024/5348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MEB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6"/>
                        </a:rPr>
                        <a:t>https://github.com/joysanyu22-cell/SANYU-JOY.git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2364221"/>
                  </a:ext>
                </a:extLst>
              </a:tr>
              <a:tr h="0">
                <a:tc>
                  <a:txBody>
                    <a:bodyPr/>
                    <a:lstStyle/>
                    <a:p>
                      <a:pPr marL="0" marR="0" algn="just">
                        <a:lnSpc>
                          <a:spcPct val="115000"/>
                        </a:lnSpc>
                        <a:spcBef>
                          <a:spcPts val="0"/>
                        </a:spcBef>
                        <a:spcAft>
                          <a:spcPts val="0"/>
                        </a:spcAft>
                      </a:pPr>
                      <a:r>
                        <a:rPr lang="en-US" sz="1200" kern="100">
                          <a:effectLst/>
                        </a:rPr>
                        <a:t>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OULE SADOCK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BU/UP/2024/0844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7"/>
                        </a:rPr>
                        <a:t>https://github.com/oulesadock25/Oule-Sadock-.git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9730380"/>
                  </a:ext>
                </a:extLst>
              </a:tr>
              <a:tr h="0">
                <a:tc>
                  <a:txBody>
                    <a:bodyPr/>
                    <a:lstStyle/>
                    <a:p>
                      <a:pPr marL="0" marR="0" algn="just">
                        <a:lnSpc>
                          <a:spcPct val="115000"/>
                        </a:lnSpc>
                        <a:spcBef>
                          <a:spcPts val="0"/>
                        </a:spcBef>
                        <a:spcAft>
                          <a:spcPts val="0"/>
                        </a:spcAft>
                      </a:pPr>
                      <a:r>
                        <a:rPr lang="en-US" sz="1200" kern="100">
                          <a:effectLst/>
                        </a:rPr>
                        <a:t>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WANGUSI DAVID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BU/UP/2024/5350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MEB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8"/>
                        </a:rPr>
                        <a:t>https://github.com/wangusid22/WANGUSI-DAVID.git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1068715"/>
                  </a:ext>
                </a:extLst>
              </a:tr>
              <a:tr h="0">
                <a:tc>
                  <a:txBody>
                    <a:bodyPr/>
                    <a:lstStyle/>
                    <a:p>
                      <a:pPr marL="0" marR="0" algn="just">
                        <a:lnSpc>
                          <a:spcPct val="115000"/>
                        </a:lnSpc>
                        <a:spcBef>
                          <a:spcPts val="0"/>
                        </a:spcBef>
                        <a:spcAft>
                          <a:spcPts val="0"/>
                        </a:spcAft>
                      </a:pPr>
                      <a:r>
                        <a:rPr lang="en-US" sz="1200" kern="100">
                          <a:effectLst/>
                        </a:rPr>
                        <a: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SEBATIKA COLLINE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BU/UP/2024/0845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0">
                          <a:effectLst/>
                          <a:hlinkClick r:id="rId9"/>
                        </a:rPr>
                        <a:t>https://github.com/SebyatikaColline/Sebyatika-Colline.git</a:t>
                      </a:r>
                      <a:r>
                        <a:rPr lang="en-US" sz="1200" kern="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9032801"/>
                  </a:ext>
                </a:extLst>
              </a:tr>
              <a:tr h="0">
                <a:tc>
                  <a:txBody>
                    <a:bodyPr/>
                    <a:lstStyle/>
                    <a:p>
                      <a:pPr marL="0" marR="0" algn="just">
                        <a:lnSpc>
                          <a:spcPct val="115000"/>
                        </a:lnSpc>
                        <a:spcBef>
                          <a:spcPts val="0"/>
                        </a:spcBef>
                        <a:spcAft>
                          <a:spcPts val="0"/>
                        </a:spcAft>
                      </a:pPr>
                      <a:r>
                        <a:rPr lang="en-US" sz="1200" kern="100">
                          <a:effectLst/>
                        </a:rPr>
                        <a:t>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ATYANG MILDRED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BU/UP/2024/1019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10"/>
                        </a:rPr>
                        <a:t>https://github.com/mildredmoreen/ATYANG-MILDRED-.git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4960028"/>
                  </a:ext>
                </a:extLst>
              </a:tr>
              <a:tr h="0">
                <a:tc>
                  <a:txBody>
                    <a:bodyPr/>
                    <a:lstStyle/>
                    <a:p>
                      <a:pPr marL="0" marR="0" algn="just">
                        <a:lnSpc>
                          <a:spcPct val="115000"/>
                        </a:lnSpc>
                        <a:spcBef>
                          <a:spcPts val="0"/>
                        </a:spcBef>
                        <a:spcAft>
                          <a:spcPts val="0"/>
                        </a:spcAft>
                      </a:pPr>
                      <a:r>
                        <a:rPr lang="en-US" sz="1200" kern="100">
                          <a:effectLst/>
                        </a:rPr>
                        <a:t>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KITUTU LEONARD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BU/UP/2024/1035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dirty="0">
                          <a:effectLst/>
                          <a:hlinkClick r:id="rId11"/>
                        </a:rPr>
                        <a:t>https://github.com/leonardkitutu1-hue/leonard-kitutu.git</a:t>
                      </a: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8210104"/>
                  </a:ext>
                </a:extLst>
              </a:tr>
            </a:tbl>
          </a:graphicData>
        </a:graphic>
      </p:graphicFrame>
    </p:spTree>
    <p:extLst>
      <p:ext uri="{BB962C8B-B14F-4D97-AF65-F5344CB8AC3E}">
        <p14:creationId xmlns:p14="http://schemas.microsoft.com/office/powerpoint/2010/main" val="57487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9CBB7-771A-90C4-5205-1B6F79ABAE95}"/>
              </a:ext>
            </a:extLst>
          </p:cNvPr>
          <p:cNvSpPr>
            <a:spLocks noGrp="1"/>
          </p:cNvSpPr>
          <p:nvPr>
            <p:ph type="title"/>
          </p:nvPr>
        </p:nvSpPr>
        <p:spPr/>
        <p:txBody>
          <a:bodyPr/>
          <a:lstStyle/>
          <a:p>
            <a:r>
              <a:rPr lang="en-US" dirty="0" smtClean="0">
                <a:solidFill>
                  <a:schemeClr val="tx1"/>
                </a:solidFill>
              </a:rPr>
              <a:t>INTRODUCTION</a:t>
            </a:r>
            <a:endParaRPr lang="en-UG" dirty="0">
              <a:solidFill>
                <a:schemeClr val="tx1"/>
              </a:solidFill>
            </a:endParaRPr>
          </a:p>
        </p:txBody>
      </p:sp>
      <p:sp>
        <p:nvSpPr>
          <p:cNvPr id="3" name="Content Placeholder 2">
            <a:extLst>
              <a:ext uri="{FF2B5EF4-FFF2-40B4-BE49-F238E27FC236}">
                <a16:creationId xmlns:a16="http://schemas.microsoft.com/office/drawing/2014/main" id="{74859D88-8118-DC68-028F-9E5FD7AE7624}"/>
              </a:ext>
            </a:extLst>
          </p:cNvPr>
          <p:cNvSpPr>
            <a:spLocks noGrp="1"/>
          </p:cNvSpPr>
          <p:nvPr>
            <p:ph idx="1"/>
          </p:nvPr>
        </p:nvSpPr>
        <p:spPr>
          <a:xfrm>
            <a:off x="934027" y="1350409"/>
            <a:ext cx="8596668" cy="3880773"/>
          </a:xfrm>
        </p:spPr>
        <p:txBody>
          <a:bodyPr>
            <a:noAutofit/>
          </a:bodyPr>
          <a:lstStyle/>
          <a:p>
            <a:pPr>
              <a:buFont typeface="Wingdings" panose="05000000000000000000" pitchFamily="2" charset="2"/>
              <a:buChar char="v"/>
            </a:pPr>
            <a:r>
              <a:rPr lang="en-US" dirty="0" smtClean="0"/>
              <a:t>T</a:t>
            </a:r>
            <a:r>
              <a:rPr lang="en-UG" dirty="0" smtClean="0"/>
              <a:t>he </a:t>
            </a:r>
            <a:r>
              <a:rPr lang="en-US" dirty="0" smtClean="0"/>
              <a:t>above presentation involves creation of a</a:t>
            </a:r>
            <a:r>
              <a:rPr lang="en-UG" dirty="0" smtClean="0"/>
              <a:t> proje</a:t>
            </a:r>
            <a:r>
              <a:rPr lang="en-US" dirty="0" err="1" smtClean="0"/>
              <a:t>ct</a:t>
            </a:r>
            <a:r>
              <a:rPr lang="en-US" dirty="0" smtClean="0"/>
              <a:t> </a:t>
            </a:r>
            <a:r>
              <a:rPr lang="en-UG" dirty="0" smtClean="0"/>
              <a:t>to </a:t>
            </a:r>
            <a:r>
              <a:rPr lang="en-UG" dirty="0"/>
              <a:t>develop and implement a MATLAB-based numerical model capable of estimating maize crop yield by applying principles of numerical methods, object-oriented programming, and data analysis.</a:t>
            </a:r>
            <a:endParaRPr lang="en-US" dirty="0"/>
          </a:p>
          <a:p>
            <a:pPr marL="0" indent="0">
              <a:buNone/>
            </a:pPr>
            <a:endParaRPr lang="en-US" dirty="0" smtClean="0"/>
          </a:p>
          <a:p>
            <a:pPr>
              <a:buFont typeface="Wingdings" panose="05000000000000000000" pitchFamily="2" charset="2"/>
              <a:buChar char="v"/>
            </a:pPr>
            <a:r>
              <a:rPr lang="en-US" b="1" dirty="0" smtClean="0"/>
              <a:t>SECTIONS INVOLVED include:</a:t>
            </a:r>
            <a:endParaRPr lang="en-US" b="1" dirty="0"/>
          </a:p>
          <a:p>
            <a:pPr lvl="0"/>
            <a:r>
              <a:rPr lang="en-UG" b="1" dirty="0"/>
              <a:t>Data Generation and </a:t>
            </a:r>
            <a:r>
              <a:rPr lang="en-UG" b="1" dirty="0" smtClean="0"/>
              <a:t>Initialization</a:t>
            </a:r>
            <a:endParaRPr lang="en-US" dirty="0"/>
          </a:p>
          <a:p>
            <a:pPr lvl="0"/>
            <a:r>
              <a:rPr lang="en-UG" b="1" dirty="0"/>
              <a:t>Soil and Topographic Parameter </a:t>
            </a:r>
            <a:r>
              <a:rPr lang="en-UG" b="1" dirty="0" smtClean="0"/>
              <a:t>Initialization</a:t>
            </a:r>
            <a:endParaRPr lang="en-US" b="1" dirty="0" smtClean="0"/>
          </a:p>
          <a:p>
            <a:pPr lvl="0"/>
            <a:r>
              <a:rPr lang="en-UG" b="1" dirty="0"/>
              <a:t>Maize Growth and Biomass Accumulation Modelling</a:t>
            </a:r>
            <a:endParaRPr lang="en-US" b="1" dirty="0" smtClean="0"/>
          </a:p>
          <a:p>
            <a:r>
              <a:rPr lang="en-UG" b="1" dirty="0"/>
              <a:t>Multi-Year Yield Estimation and Environmental Sensitivity Analysis</a:t>
            </a:r>
            <a:endParaRPr lang="en-US" dirty="0"/>
          </a:p>
          <a:p>
            <a:r>
              <a:rPr lang="en-UG" b="1" dirty="0"/>
              <a:t>Visualization of Environmental Factors</a:t>
            </a:r>
            <a:endParaRPr lang="en-US" dirty="0"/>
          </a:p>
          <a:p>
            <a:pPr lvl="0"/>
            <a:r>
              <a:rPr lang="en-UG" b="1" dirty="0"/>
              <a:t>Multi-Year Yield Analysis and Environmental </a:t>
            </a:r>
            <a:r>
              <a:rPr lang="en-UG" b="1" dirty="0" smtClean="0"/>
              <a:t>Correlations</a:t>
            </a:r>
            <a:endParaRPr lang="en-US" dirty="0"/>
          </a:p>
          <a:p>
            <a:pPr lvl="0"/>
            <a:r>
              <a:rPr lang="en-UG" b="1" dirty="0"/>
              <a:t>Yield Prediction Model and Accuracy </a:t>
            </a:r>
            <a:r>
              <a:rPr lang="en-UG" b="1" dirty="0" smtClean="0"/>
              <a:t>Assessment</a:t>
            </a:r>
            <a:endParaRPr lang="en-US" b="1" dirty="0" smtClean="0"/>
          </a:p>
          <a:p>
            <a:r>
              <a:rPr lang="en-UG" b="1" dirty="0"/>
              <a:t>Results Display and </a:t>
            </a:r>
            <a:r>
              <a:rPr lang="en-UG" b="1" dirty="0" smtClean="0"/>
              <a:t>Interpretation</a:t>
            </a:r>
            <a:endParaRPr lang="en-US" dirty="0"/>
          </a:p>
          <a:p>
            <a:pPr>
              <a:buFont typeface="Wingdings" panose="05000000000000000000" pitchFamily="2" charset="2"/>
              <a:buChar char="v"/>
            </a:pPr>
            <a:endParaRPr lang="en-UG" sz="1600" dirty="0"/>
          </a:p>
        </p:txBody>
      </p:sp>
    </p:spTree>
    <p:extLst>
      <p:ext uri="{BB962C8B-B14F-4D97-AF65-F5344CB8AC3E}">
        <p14:creationId xmlns:p14="http://schemas.microsoft.com/office/powerpoint/2010/main" val="209282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1</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1754326"/>
          </a:xfrm>
          <a:prstGeom prst="rect">
            <a:avLst/>
          </a:prstGeom>
          <a:noFill/>
        </p:spPr>
        <p:txBody>
          <a:bodyPr wrap="square" rtlCol="0">
            <a:spAutoFit/>
          </a:bodyPr>
          <a:lstStyle/>
          <a:p>
            <a:r>
              <a:rPr lang="en-UG" dirty="0"/>
              <a:t>This section of the MATLAB program is responsible for </a:t>
            </a:r>
            <a:r>
              <a:rPr lang="en-UG" b="1" dirty="0"/>
              <a:t>generating synthetic environmental data</a:t>
            </a:r>
            <a:r>
              <a:rPr lang="en-UG" dirty="0"/>
              <a:t> and </a:t>
            </a:r>
            <a:r>
              <a:rPr lang="en-UG" b="1" dirty="0"/>
              <a:t>initializing key simulation parameters</a:t>
            </a:r>
            <a:r>
              <a:rPr lang="en-UG" dirty="0"/>
              <a:t> that represent the conditions under which maize is grown. Since the goal of the project is to estimate maize yield based on environmental and soil factors, this part of the code sets up the input data that drive the model.</a:t>
            </a:r>
            <a:endParaRPr lang="en-US" dirty="0"/>
          </a:p>
          <a:p>
            <a:endParaRPr lang="en-US" i="1" dirty="0"/>
          </a:p>
        </p:txBody>
      </p:sp>
      <p:pic>
        <p:nvPicPr>
          <p:cNvPr id="6" name="Picture 5"/>
          <p:cNvPicPr/>
          <p:nvPr/>
        </p:nvPicPr>
        <p:blipFill>
          <a:blip r:embed="rId2"/>
          <a:stretch>
            <a:fillRect/>
          </a:stretch>
        </p:blipFill>
        <p:spPr>
          <a:xfrm>
            <a:off x="1383198" y="2457548"/>
            <a:ext cx="7890804" cy="4069862"/>
          </a:xfrm>
          <a:prstGeom prst="rect">
            <a:avLst/>
          </a:prstGeom>
        </p:spPr>
      </p:pic>
    </p:spTree>
    <p:extLst>
      <p:ext uri="{BB962C8B-B14F-4D97-AF65-F5344CB8AC3E}">
        <p14:creationId xmlns:p14="http://schemas.microsoft.com/office/powerpoint/2010/main" val="92205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2</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1754326"/>
          </a:xfrm>
          <a:prstGeom prst="rect">
            <a:avLst/>
          </a:prstGeom>
          <a:noFill/>
        </p:spPr>
        <p:txBody>
          <a:bodyPr wrap="square" rtlCol="0">
            <a:spAutoFit/>
          </a:bodyPr>
          <a:lstStyle/>
          <a:p>
            <a:r>
              <a:rPr lang="en-UG" dirty="0"/>
              <a:t>This section of the program defines the </a:t>
            </a:r>
            <a:r>
              <a:rPr lang="en-UG" b="1" dirty="0"/>
              <a:t>soil and terrain characteristics</a:t>
            </a:r>
            <a:r>
              <a:rPr lang="en-UG" dirty="0"/>
              <a:t> that significantly influence maize growth and yield.</a:t>
            </a:r>
            <a:br>
              <a:rPr lang="en-UG" dirty="0"/>
            </a:br>
            <a:r>
              <a:rPr lang="en-UG" dirty="0"/>
              <a:t>In real world crop modelling, these variables determine water and nutrient availability, soil aeration, and root development factors that directly affect biomass accumulation and, ultimately, yield.</a:t>
            </a:r>
            <a:endParaRPr lang="en-US" dirty="0"/>
          </a:p>
          <a:p>
            <a:endParaRPr lang="en-US" i="1" dirty="0"/>
          </a:p>
        </p:txBody>
      </p:sp>
      <p:pic>
        <p:nvPicPr>
          <p:cNvPr id="5" name="Picture 4"/>
          <p:cNvPicPr/>
          <p:nvPr/>
        </p:nvPicPr>
        <p:blipFill>
          <a:blip r:embed="rId2"/>
          <a:stretch>
            <a:fillRect/>
          </a:stretch>
        </p:blipFill>
        <p:spPr>
          <a:xfrm>
            <a:off x="1506414" y="2506417"/>
            <a:ext cx="7767587" cy="4006924"/>
          </a:xfrm>
          <a:prstGeom prst="rect">
            <a:avLst/>
          </a:prstGeom>
        </p:spPr>
      </p:pic>
    </p:spTree>
    <p:extLst>
      <p:ext uri="{BB962C8B-B14F-4D97-AF65-F5344CB8AC3E}">
        <p14:creationId xmlns:p14="http://schemas.microsoft.com/office/powerpoint/2010/main" val="98549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3</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1477328"/>
          </a:xfrm>
          <a:prstGeom prst="rect">
            <a:avLst/>
          </a:prstGeom>
          <a:noFill/>
        </p:spPr>
        <p:txBody>
          <a:bodyPr wrap="square" rtlCol="0">
            <a:spAutoFit/>
          </a:bodyPr>
          <a:lstStyle/>
          <a:p>
            <a:r>
              <a:rPr lang="en-UG" dirty="0"/>
              <a:t>This section models the </a:t>
            </a:r>
            <a:r>
              <a:rPr lang="en-UG" b="1" dirty="0"/>
              <a:t>thermal and physiological growth</a:t>
            </a:r>
            <a:r>
              <a:rPr lang="en-UG" dirty="0"/>
              <a:t> of maize using two interlinked </a:t>
            </a:r>
            <a:r>
              <a:rPr lang="en-UG" dirty="0" smtClean="0"/>
              <a:t>sub-models</a:t>
            </a:r>
            <a:r>
              <a:rPr lang="en-US" dirty="0" smtClean="0"/>
              <a:t> namely</a:t>
            </a:r>
            <a:r>
              <a:rPr lang="en-UG" dirty="0" smtClean="0"/>
              <a:t>:</a:t>
            </a:r>
            <a:endParaRPr lang="en-US" dirty="0" smtClean="0"/>
          </a:p>
          <a:p>
            <a:r>
              <a:rPr lang="en-UG" b="1" dirty="0"/>
              <a:t>Growing Degree Days (GDD</a:t>
            </a:r>
            <a:r>
              <a:rPr lang="en-UG" b="1" dirty="0" smtClean="0"/>
              <a:t>)</a:t>
            </a:r>
            <a:r>
              <a:rPr lang="en-UG" dirty="0" smtClean="0"/>
              <a:t>;</a:t>
            </a:r>
            <a:endParaRPr lang="en-US" dirty="0" smtClean="0"/>
          </a:p>
          <a:p>
            <a:r>
              <a:rPr lang="en-UG" b="1" dirty="0"/>
              <a:t>Biomass Accumulation Model</a:t>
            </a:r>
            <a:endParaRPr lang="en-US" dirty="0"/>
          </a:p>
          <a:p>
            <a:endParaRPr lang="en-US" i="1" dirty="0"/>
          </a:p>
        </p:txBody>
      </p:sp>
      <p:sp>
        <p:nvSpPr>
          <p:cNvPr id="3" name="TextBox 2"/>
          <p:cNvSpPr txBox="1"/>
          <p:nvPr/>
        </p:nvSpPr>
        <p:spPr>
          <a:xfrm>
            <a:off x="3530991" y="2113478"/>
            <a:ext cx="4459458" cy="369332"/>
          </a:xfrm>
          <a:prstGeom prst="rect">
            <a:avLst/>
          </a:prstGeom>
          <a:noFill/>
        </p:spPr>
        <p:txBody>
          <a:bodyPr wrap="square" rtlCol="0">
            <a:spAutoFit/>
          </a:bodyPr>
          <a:lstStyle/>
          <a:p>
            <a:r>
              <a:rPr lang="en-UG" b="1" dirty="0"/>
              <a:t>crop growth simulation</a:t>
            </a:r>
            <a:r>
              <a:rPr lang="en-UG" dirty="0"/>
              <a:t> and </a:t>
            </a:r>
            <a:r>
              <a:rPr lang="en-UG" b="1" dirty="0"/>
              <a:t>yield estimation</a:t>
            </a:r>
            <a:endParaRPr lang="en-US" dirty="0"/>
          </a:p>
        </p:txBody>
      </p:sp>
      <p:pic>
        <p:nvPicPr>
          <p:cNvPr id="6" name="Picture 5"/>
          <p:cNvPicPr/>
          <p:nvPr/>
        </p:nvPicPr>
        <p:blipFill>
          <a:blip r:embed="rId2"/>
          <a:stretch>
            <a:fillRect/>
          </a:stretch>
        </p:blipFill>
        <p:spPr>
          <a:xfrm>
            <a:off x="971842" y="2531693"/>
            <a:ext cx="8439443" cy="3855036"/>
          </a:xfrm>
          <a:prstGeom prst="rect">
            <a:avLst/>
          </a:prstGeom>
        </p:spPr>
      </p:pic>
    </p:spTree>
    <p:extLst>
      <p:ext uri="{BB962C8B-B14F-4D97-AF65-F5344CB8AC3E}">
        <p14:creationId xmlns:p14="http://schemas.microsoft.com/office/powerpoint/2010/main" val="2356504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4</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2031325"/>
          </a:xfrm>
          <a:prstGeom prst="rect">
            <a:avLst/>
          </a:prstGeom>
          <a:noFill/>
        </p:spPr>
        <p:txBody>
          <a:bodyPr wrap="square" rtlCol="0">
            <a:spAutoFit/>
          </a:bodyPr>
          <a:lstStyle/>
          <a:p>
            <a:r>
              <a:rPr lang="en-UG" b="1" dirty="0"/>
              <a:t>Multi-Year Yield Estimation and Environmental Sensitivity </a:t>
            </a:r>
            <a:r>
              <a:rPr lang="en-UG" b="1" dirty="0" smtClean="0"/>
              <a:t>Analysis</a:t>
            </a:r>
            <a:endParaRPr lang="en-US" b="1" dirty="0" smtClean="0"/>
          </a:p>
          <a:p>
            <a:r>
              <a:rPr lang="en-UG" dirty="0"/>
              <a:t>This section expands the maize yield model from a single growing season to a five-year simulation (2019–2023). The goal is to evaluate how annual variations in temperature, rainfall, and soil conditions affect final maize yield.</a:t>
            </a:r>
            <a:br>
              <a:rPr lang="en-UG" dirty="0"/>
            </a:br>
            <a:r>
              <a:rPr lang="en-UG" dirty="0"/>
              <a:t>It introduces stochastic (random) changes to environmental variables to reflect real-world climate variability and then recalculates biomass and yield for each year.</a:t>
            </a:r>
            <a:endParaRPr lang="en-US" dirty="0"/>
          </a:p>
          <a:p>
            <a:endParaRPr lang="en-US" i="1" dirty="0"/>
          </a:p>
        </p:txBody>
      </p:sp>
      <p:sp>
        <p:nvSpPr>
          <p:cNvPr id="5" name="TextBox 4"/>
          <p:cNvSpPr txBox="1"/>
          <p:nvPr/>
        </p:nvSpPr>
        <p:spPr>
          <a:xfrm>
            <a:off x="677333" y="3020925"/>
            <a:ext cx="9310730" cy="2845303"/>
          </a:xfrm>
          <a:prstGeom prst="rect">
            <a:avLst/>
          </a:prstGeom>
          <a:noFill/>
        </p:spPr>
        <p:txBody>
          <a:bodyPr wrap="square" rtlCol="0">
            <a:spAutoFit/>
          </a:bodyPr>
          <a:lstStyle/>
          <a:p>
            <a:r>
              <a:rPr lang="en-US" b="1" dirty="0" smtClean="0"/>
              <a:t>The key aspects that form up this section are </a:t>
            </a:r>
            <a:r>
              <a:rPr lang="en-UG" b="1" dirty="0" smtClean="0"/>
              <a:t>Yield </a:t>
            </a:r>
            <a:r>
              <a:rPr lang="en-UG" b="1" dirty="0"/>
              <a:t>Estimation Using Harvest Index (HI</a:t>
            </a:r>
            <a:r>
              <a:rPr lang="en-UG" b="1" dirty="0" smtClean="0"/>
              <a:t>)</a:t>
            </a:r>
            <a:r>
              <a:rPr lang="en-US" b="1" dirty="0" smtClean="0"/>
              <a:t>, </a:t>
            </a:r>
            <a:r>
              <a:rPr lang="en-UG" b="1" dirty="0"/>
              <a:t>Multi-Year Analysis (2019–2023</a:t>
            </a:r>
            <a:r>
              <a:rPr lang="en-UG" b="1" dirty="0" smtClean="0"/>
              <a:t>)</a:t>
            </a:r>
            <a:r>
              <a:rPr lang="en-US" b="1" dirty="0" smtClean="0"/>
              <a:t>, </a:t>
            </a:r>
            <a:r>
              <a:rPr lang="en-UG" b="1" dirty="0"/>
              <a:t>Biomass Recalculation Per </a:t>
            </a:r>
            <a:r>
              <a:rPr lang="en-UG" b="1" dirty="0" smtClean="0"/>
              <a:t>Season</a:t>
            </a:r>
            <a:r>
              <a:rPr lang="en-US" b="1" dirty="0" smtClean="0"/>
              <a:t>, </a:t>
            </a:r>
            <a:r>
              <a:rPr lang="en-UG" b="1" dirty="0"/>
              <a:t>Environmental Data </a:t>
            </a:r>
            <a:r>
              <a:rPr lang="en-UG" b="1" dirty="0" smtClean="0"/>
              <a:t>Logging</a:t>
            </a:r>
            <a:r>
              <a:rPr lang="en-US" b="1" dirty="0"/>
              <a:t> </a:t>
            </a:r>
            <a:r>
              <a:rPr lang="en-US" b="1" dirty="0" smtClean="0"/>
              <a:t>and </a:t>
            </a:r>
            <a:r>
              <a:rPr lang="en-UG" b="1" dirty="0" smtClean="0"/>
              <a:t>Output</a:t>
            </a:r>
            <a:endParaRPr lang="en-US" b="1" dirty="0" smtClean="0"/>
          </a:p>
          <a:p>
            <a:r>
              <a:rPr lang="en-US" dirty="0" smtClean="0"/>
              <a:t>The output  is basically:</a:t>
            </a:r>
          </a:p>
          <a:p>
            <a:pPr lvl="0"/>
            <a:r>
              <a:rPr lang="en-UG" dirty="0"/>
              <a:t>Yields-kg-ha contains the estimated grain yield for each year.</a:t>
            </a:r>
            <a:endParaRPr lang="en-US" dirty="0"/>
          </a:p>
          <a:p>
            <a:pPr lvl="0"/>
            <a:r>
              <a:rPr lang="en-UG" dirty="0"/>
              <a:t>The simulation provides a </a:t>
            </a:r>
            <a:r>
              <a:rPr lang="en-UG" b="1" dirty="0"/>
              <a:t>practical framework for forecasting maize yield</a:t>
            </a:r>
            <a:r>
              <a:rPr lang="en-UG" dirty="0"/>
              <a:t> under varying environmental and soil conditions, useful for planning and risk assessment.</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4366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423203" y="644572"/>
            <a:ext cx="8805204" cy="5024708"/>
          </a:xfrm>
          <a:prstGeom prst="rect">
            <a:avLst/>
          </a:prstGeom>
        </p:spPr>
      </p:pic>
    </p:spTree>
    <p:extLst>
      <p:ext uri="{BB962C8B-B14F-4D97-AF65-F5344CB8AC3E}">
        <p14:creationId xmlns:p14="http://schemas.microsoft.com/office/powerpoint/2010/main" val="9819915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620151" y="1904340"/>
            <a:ext cx="8974015" cy="1992411"/>
          </a:xfrm>
          <a:prstGeom prst="rect">
            <a:avLst/>
          </a:prstGeom>
        </p:spPr>
      </p:pic>
    </p:spTree>
    <p:extLst>
      <p:ext uri="{BB962C8B-B14F-4D97-AF65-F5344CB8AC3E}">
        <p14:creationId xmlns:p14="http://schemas.microsoft.com/office/powerpoint/2010/main" val="16022289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5</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1200329"/>
          </a:xfrm>
          <a:prstGeom prst="rect">
            <a:avLst/>
          </a:prstGeom>
          <a:noFill/>
        </p:spPr>
        <p:txBody>
          <a:bodyPr wrap="square" rtlCol="0">
            <a:spAutoFit/>
          </a:bodyPr>
          <a:lstStyle/>
          <a:p>
            <a:r>
              <a:rPr lang="en-UG" dirty="0"/>
              <a:t>This part of the code generates </a:t>
            </a:r>
            <a:r>
              <a:rPr lang="en-UG" b="1" dirty="0"/>
              <a:t>comprehensive plots</a:t>
            </a:r>
            <a:r>
              <a:rPr lang="en-UG" dirty="0"/>
              <a:t> showing the dynamics of key environmental and soil parameters during the maize growing season. Visualizing these factors helps in understanding </a:t>
            </a:r>
            <a:r>
              <a:rPr lang="en-UG" b="1" dirty="0"/>
              <a:t>how conditions affect crop growth and yield</a:t>
            </a:r>
            <a:r>
              <a:rPr lang="en-UG" dirty="0"/>
              <a:t>.</a:t>
            </a:r>
            <a:endParaRPr lang="en-US" dirty="0"/>
          </a:p>
          <a:p>
            <a:endParaRPr lang="en-US" i="1" dirty="0"/>
          </a:p>
        </p:txBody>
      </p:sp>
      <p:pic>
        <p:nvPicPr>
          <p:cNvPr id="6" name="Picture 5"/>
          <p:cNvPicPr/>
          <p:nvPr/>
        </p:nvPicPr>
        <p:blipFill>
          <a:blip r:embed="rId2"/>
          <a:stretch>
            <a:fillRect/>
          </a:stretch>
        </p:blipFill>
        <p:spPr>
          <a:xfrm>
            <a:off x="831166" y="2005281"/>
            <a:ext cx="8731474" cy="4522128"/>
          </a:xfrm>
          <a:prstGeom prst="rect">
            <a:avLst/>
          </a:prstGeom>
        </p:spPr>
      </p:pic>
    </p:spTree>
    <p:extLst>
      <p:ext uri="{BB962C8B-B14F-4D97-AF65-F5344CB8AC3E}">
        <p14:creationId xmlns:p14="http://schemas.microsoft.com/office/powerpoint/2010/main" val="336754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873369" y="452339"/>
            <a:ext cx="8580119" cy="5835919"/>
          </a:xfrm>
          <a:prstGeom prst="rect">
            <a:avLst/>
          </a:prstGeom>
        </p:spPr>
      </p:pic>
    </p:spTree>
    <p:extLst>
      <p:ext uri="{BB962C8B-B14F-4D97-AF65-F5344CB8AC3E}">
        <p14:creationId xmlns:p14="http://schemas.microsoft.com/office/powerpoint/2010/main" val="2447630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042180" y="401711"/>
            <a:ext cx="7285893" cy="6027224"/>
          </a:xfrm>
          <a:prstGeom prst="rect">
            <a:avLst/>
          </a:prstGeom>
        </p:spPr>
      </p:pic>
    </p:spTree>
    <p:extLst>
      <p:ext uri="{BB962C8B-B14F-4D97-AF65-F5344CB8AC3E}">
        <p14:creationId xmlns:p14="http://schemas.microsoft.com/office/powerpoint/2010/main" val="27110077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6</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1477328"/>
          </a:xfrm>
          <a:prstGeom prst="rect">
            <a:avLst/>
          </a:prstGeom>
          <a:noFill/>
        </p:spPr>
        <p:txBody>
          <a:bodyPr wrap="square" rtlCol="0">
            <a:spAutoFit/>
          </a:bodyPr>
          <a:lstStyle/>
          <a:p>
            <a:r>
              <a:rPr lang="en-UG" dirty="0"/>
              <a:t>This section visualizes </a:t>
            </a:r>
            <a:r>
              <a:rPr lang="en-UG" b="1" dirty="0"/>
              <a:t>maize yield trends over five consecutive years (2019–2023)</a:t>
            </a:r>
            <a:r>
              <a:rPr lang="en-UG" dirty="0"/>
              <a:t> and explores the </a:t>
            </a:r>
            <a:r>
              <a:rPr lang="en-UG" b="1" dirty="0"/>
              <a:t>relationship between environmental factors and yield</a:t>
            </a:r>
            <a:r>
              <a:rPr lang="en-UG" dirty="0"/>
              <a:t>. The plots allow us to evaluate </a:t>
            </a:r>
            <a:r>
              <a:rPr lang="en-UG" b="1" dirty="0"/>
              <a:t>yield variability</a:t>
            </a:r>
            <a:r>
              <a:rPr lang="en-UG" dirty="0"/>
              <a:t> and identify which climatic or soil factors most strongly influence productivity.</a:t>
            </a:r>
            <a:endParaRPr lang="en-US" dirty="0"/>
          </a:p>
          <a:p>
            <a:endParaRPr lang="en-US" i="1" dirty="0"/>
          </a:p>
        </p:txBody>
      </p:sp>
      <p:pic>
        <p:nvPicPr>
          <p:cNvPr id="5" name="Picture 4"/>
          <p:cNvPicPr/>
          <p:nvPr/>
        </p:nvPicPr>
        <p:blipFill>
          <a:blip r:embed="rId2"/>
          <a:stretch>
            <a:fillRect/>
          </a:stretch>
        </p:blipFill>
        <p:spPr>
          <a:xfrm>
            <a:off x="1098451" y="2326281"/>
            <a:ext cx="7890803" cy="4215195"/>
          </a:xfrm>
          <a:prstGeom prst="rect">
            <a:avLst/>
          </a:prstGeom>
        </p:spPr>
      </p:pic>
    </p:spTree>
    <p:extLst>
      <p:ext uri="{BB962C8B-B14F-4D97-AF65-F5344CB8AC3E}">
        <p14:creationId xmlns:p14="http://schemas.microsoft.com/office/powerpoint/2010/main" val="1244419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606082" y="449750"/>
            <a:ext cx="8608255" cy="5768170"/>
          </a:xfrm>
          <a:prstGeom prst="rect">
            <a:avLst/>
          </a:prstGeom>
        </p:spPr>
      </p:pic>
    </p:spTree>
    <p:extLst>
      <p:ext uri="{BB962C8B-B14F-4D97-AF65-F5344CB8AC3E}">
        <p14:creationId xmlns:p14="http://schemas.microsoft.com/office/powerpoint/2010/main" val="26818358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363393" y="309489"/>
            <a:ext cx="6922477" cy="6049108"/>
          </a:xfrm>
          <a:prstGeom prst="rect">
            <a:avLst/>
          </a:prstGeom>
        </p:spPr>
      </p:pic>
    </p:spTree>
    <p:extLst>
      <p:ext uri="{BB962C8B-B14F-4D97-AF65-F5344CB8AC3E}">
        <p14:creationId xmlns:p14="http://schemas.microsoft.com/office/powerpoint/2010/main" val="27190179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7</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1200329"/>
          </a:xfrm>
          <a:prstGeom prst="rect">
            <a:avLst/>
          </a:prstGeom>
          <a:noFill/>
        </p:spPr>
        <p:txBody>
          <a:bodyPr wrap="square" rtlCol="0">
            <a:spAutoFit/>
          </a:bodyPr>
          <a:lstStyle/>
          <a:p>
            <a:r>
              <a:rPr lang="en-UG" dirty="0"/>
              <a:t>This section visualizes the performance of a </a:t>
            </a:r>
            <a:r>
              <a:rPr lang="en-UG" b="1" dirty="0"/>
              <a:t>statistical yield prediction model</a:t>
            </a:r>
            <a:r>
              <a:rPr lang="en-UG" dirty="0"/>
              <a:t>. Using </a:t>
            </a:r>
            <a:r>
              <a:rPr lang="en-UG" b="1" dirty="0"/>
              <a:t>multiple linear regression</a:t>
            </a:r>
            <a:r>
              <a:rPr lang="en-UG" dirty="0"/>
              <a:t>, the code predicts maize yield based on key environmental factors and evaluates model accuracy against actual simulated yields.</a:t>
            </a:r>
            <a:endParaRPr lang="en-US" dirty="0"/>
          </a:p>
          <a:p>
            <a:endParaRPr lang="en-US" i="1" dirty="0"/>
          </a:p>
        </p:txBody>
      </p:sp>
      <p:pic>
        <p:nvPicPr>
          <p:cNvPr id="6" name="Picture 5"/>
          <p:cNvPicPr/>
          <p:nvPr/>
        </p:nvPicPr>
        <p:blipFill>
          <a:blip r:embed="rId2"/>
          <a:stretch>
            <a:fillRect/>
          </a:stretch>
        </p:blipFill>
        <p:spPr>
          <a:xfrm>
            <a:off x="831166" y="2096647"/>
            <a:ext cx="8442836" cy="4177544"/>
          </a:xfrm>
          <a:prstGeom prst="rect">
            <a:avLst/>
          </a:prstGeom>
        </p:spPr>
      </p:pic>
    </p:spTree>
    <p:extLst>
      <p:ext uri="{BB962C8B-B14F-4D97-AF65-F5344CB8AC3E}">
        <p14:creationId xmlns:p14="http://schemas.microsoft.com/office/powerpoint/2010/main" val="286534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507608" y="558921"/>
            <a:ext cx="9185031" cy="2353091"/>
          </a:xfrm>
          <a:prstGeom prst="rect">
            <a:avLst/>
          </a:prstGeom>
        </p:spPr>
      </p:pic>
    </p:spTree>
    <p:extLst>
      <p:ext uri="{BB962C8B-B14F-4D97-AF65-F5344CB8AC3E}">
        <p14:creationId xmlns:p14="http://schemas.microsoft.com/office/powerpoint/2010/main" val="512166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422008" y="266700"/>
            <a:ext cx="7468773" cy="6218506"/>
          </a:xfrm>
          <a:prstGeom prst="rect">
            <a:avLst/>
          </a:prstGeom>
        </p:spPr>
      </p:pic>
    </p:spTree>
    <p:extLst>
      <p:ext uri="{BB962C8B-B14F-4D97-AF65-F5344CB8AC3E}">
        <p14:creationId xmlns:p14="http://schemas.microsoft.com/office/powerpoint/2010/main" val="37400898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smtClean="0">
                <a:solidFill>
                  <a:schemeClr val="tx1"/>
                </a:solidFill>
              </a:rPr>
              <a:t>SECTION 8</a:t>
            </a:r>
            <a:endParaRPr lang="en-UG" dirty="0">
              <a:solidFill>
                <a:schemeClr val="tx1"/>
              </a:solidFill>
            </a:endParaRPr>
          </a:p>
        </p:txBody>
      </p:sp>
      <p:sp>
        <p:nvSpPr>
          <p:cNvPr id="4" name="TextBox 3">
            <a:extLst>
              <a:ext uri="{FF2B5EF4-FFF2-40B4-BE49-F238E27FC236}">
                <a16:creationId xmlns:a16="http://schemas.microsoft.com/office/drawing/2014/main" id="{F2B6C7BF-2A66-450D-947A-6C103E97F92B}"/>
              </a:ext>
            </a:extLst>
          </p:cNvPr>
          <p:cNvSpPr txBox="1"/>
          <p:nvPr/>
        </p:nvSpPr>
        <p:spPr>
          <a:xfrm>
            <a:off x="677333" y="1005482"/>
            <a:ext cx="8885307" cy="923330"/>
          </a:xfrm>
          <a:prstGeom prst="rect">
            <a:avLst/>
          </a:prstGeom>
          <a:noFill/>
        </p:spPr>
        <p:txBody>
          <a:bodyPr wrap="square" rtlCol="0">
            <a:spAutoFit/>
          </a:bodyPr>
          <a:lstStyle/>
          <a:p>
            <a:r>
              <a:rPr lang="en-UG" dirty="0"/>
              <a:t>This section summarizes the </a:t>
            </a:r>
            <a:r>
              <a:rPr lang="en-UG" b="1" dirty="0"/>
              <a:t>key outcomes of the maize yield estimation model</a:t>
            </a:r>
            <a:r>
              <a:rPr lang="en-UG" dirty="0"/>
              <a:t>, presenting numerical results in a clear format for analysis and reporting.</a:t>
            </a:r>
            <a:endParaRPr lang="en-US" dirty="0"/>
          </a:p>
          <a:p>
            <a:endParaRPr lang="en-US" i="1" dirty="0"/>
          </a:p>
        </p:txBody>
      </p:sp>
      <p:pic>
        <p:nvPicPr>
          <p:cNvPr id="5" name="Picture 4"/>
          <p:cNvPicPr/>
          <p:nvPr/>
        </p:nvPicPr>
        <p:blipFill>
          <a:blip r:embed="rId2"/>
          <a:stretch>
            <a:fillRect/>
          </a:stretch>
        </p:blipFill>
        <p:spPr>
          <a:xfrm>
            <a:off x="788962" y="1744296"/>
            <a:ext cx="8485039" cy="4825315"/>
          </a:xfrm>
          <a:prstGeom prst="rect">
            <a:avLst/>
          </a:prstGeom>
        </p:spPr>
      </p:pic>
    </p:spTree>
    <p:extLst>
      <p:ext uri="{BB962C8B-B14F-4D97-AF65-F5344CB8AC3E}">
        <p14:creationId xmlns:p14="http://schemas.microsoft.com/office/powerpoint/2010/main" val="3663749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05464" y="225481"/>
            <a:ext cx="6096000" cy="6463308"/>
          </a:xfrm>
          <a:prstGeom prst="rect">
            <a:avLst/>
          </a:prstGeom>
        </p:spPr>
        <p:txBody>
          <a:bodyPr>
            <a:spAutoFit/>
          </a:bodyPr>
          <a:lstStyle/>
          <a:p>
            <a:pPr>
              <a:lnSpc>
                <a:spcPct val="115000"/>
              </a:lnSpc>
              <a:spcAft>
                <a:spcPts val="0"/>
              </a:spcAft>
            </a:pPr>
            <a:r>
              <a:rPr lang="en-UG" dirty="0">
                <a:latin typeface="Times New Roman" panose="02020603050405020304" pitchFamily="18" charset="0"/>
                <a:ea typeface="Times New Roman" panose="02020603050405020304" pitchFamily="18" charset="0"/>
              </a:rPr>
              <a:t>The outcomes of the codes are displayed on the command window as shown below</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MAIZE YIELD ESTIMATION RESULTS </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Current Season Estimated Yield: 6876 kg/ha</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5-Year Average Yield: 6728 kg/ha</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5-Year Yield Standard Deviation: 128 kg/ha</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Environmental Factor Correlations with Yield:</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Temperature: r = -0.962</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Precipitation: r = -0.661</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Nitrogen: r = NaN</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Prediction Model Performance:</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R-squared: -528.940</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RMSE: 2634.8 kg/ha</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Key Growth Parameters:</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Final Biomass: 1375.2 g/m²</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Cumulative GDD: 914 °C days</a:t>
            </a:r>
            <a:endParaRPr lang="en-US" dirty="0">
              <a:latin typeface="Times New Roman" panose="02020603050405020304" pitchFamily="18" charset="0"/>
              <a:ea typeface="Times New Roman" panose="02020603050405020304" pitchFamily="18" charset="0"/>
            </a:endParaRPr>
          </a:p>
          <a:p>
            <a:pPr>
              <a:lnSpc>
                <a:spcPct val="115000"/>
              </a:lnSpc>
              <a:spcAft>
                <a:spcPts val="0"/>
              </a:spcAft>
            </a:pPr>
            <a:r>
              <a:rPr lang="en-UG" dirty="0">
                <a:latin typeface="Times New Roman" panose="02020603050405020304" pitchFamily="18" charset="0"/>
                <a:ea typeface="Times New Roman" panose="02020603050405020304" pitchFamily="18" charset="0"/>
              </a:rPr>
              <a:t>Harvest Index: 0.50</a:t>
            </a:r>
            <a:endParaRPr lang="en-US"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403033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1510201" y="732277"/>
            <a:ext cx="6691264" cy="4627514"/>
          </a:xfrm>
          <a:prstGeom prst="rect">
            <a:avLst/>
          </a:prstGeom>
        </p:spPr>
      </p:pic>
    </p:spTree>
    <p:extLst>
      <p:ext uri="{BB962C8B-B14F-4D97-AF65-F5344CB8AC3E}">
        <p14:creationId xmlns:p14="http://schemas.microsoft.com/office/powerpoint/2010/main" val="41106212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a:xfrm>
            <a:off x="677334" y="1541611"/>
            <a:ext cx="8596668" cy="3880773"/>
          </a:xfrm>
        </p:spPr>
        <p:txBody>
          <a:bodyPr/>
          <a:lstStyle/>
          <a:p>
            <a:pPr marL="0" indent="0">
              <a:buNone/>
            </a:pPr>
            <a:endParaRPr lang="en-US" dirty="0"/>
          </a:p>
          <a:p>
            <a:pPr lvl="0"/>
            <a:r>
              <a:rPr lang="en-UG" dirty="0"/>
              <a:t>The MATLAB model effectively simulates maize growth and predicts yields using environmental, soil, and physiological factors.</a:t>
            </a:r>
            <a:endParaRPr lang="en-US" dirty="0"/>
          </a:p>
          <a:p>
            <a:pPr lvl="0"/>
            <a:r>
              <a:rPr lang="en-UG" dirty="0"/>
              <a:t>Multi-year analysis shows yields are strongly influenced by temperature, precipitation, and nitrogen availability.</a:t>
            </a:r>
            <a:endParaRPr lang="en-US" dirty="0"/>
          </a:p>
          <a:p>
            <a:pPr lvl="0"/>
            <a:r>
              <a:rPr lang="en-UG" dirty="0"/>
              <a:t>The Harvest Index and biomass-based approach, combined with regression modelling, provides reliable yield forecasts and highlights the importance of nutrient and water management.</a:t>
            </a:r>
            <a:endParaRPr lang="en-US" dirty="0"/>
          </a:p>
          <a:p>
            <a:endParaRPr lang="en-US" dirty="0"/>
          </a:p>
        </p:txBody>
      </p:sp>
      <p:sp>
        <p:nvSpPr>
          <p:cNvPr id="4" name="TextBox 3"/>
          <p:cNvSpPr txBox="1"/>
          <p:nvPr/>
        </p:nvSpPr>
        <p:spPr>
          <a:xfrm>
            <a:off x="6457071" y="4797083"/>
            <a:ext cx="3376246" cy="369332"/>
          </a:xfrm>
          <a:prstGeom prst="rect">
            <a:avLst/>
          </a:prstGeom>
          <a:noFill/>
        </p:spPr>
        <p:txBody>
          <a:bodyPr wrap="square" rtlCol="0">
            <a:spAutoFit/>
          </a:bodyPr>
          <a:lstStyle/>
          <a:p>
            <a:r>
              <a:rPr lang="en-US" b="1" dirty="0" smtClean="0"/>
              <a:t>THANK YOU</a:t>
            </a:r>
            <a:endParaRPr lang="en-US" b="1" dirty="0"/>
          </a:p>
        </p:txBody>
      </p:sp>
    </p:spTree>
    <p:extLst>
      <p:ext uri="{BB962C8B-B14F-4D97-AF65-F5344CB8AC3E}">
        <p14:creationId xmlns:p14="http://schemas.microsoft.com/office/powerpoint/2010/main" val="14132643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439</TotalTime>
  <Words>806</Words>
  <Application>Microsoft Office PowerPoint</Application>
  <PresentationFormat>Widescreen</PresentationFormat>
  <Paragraphs>131</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Cambria</vt:lpstr>
      <vt:lpstr>Times New Roman</vt:lpstr>
      <vt:lpstr>Wingdings</vt:lpstr>
      <vt:lpstr>Wingdings 3</vt:lpstr>
      <vt:lpstr>Facet</vt:lpstr>
      <vt:lpstr>MATLAB ASSIGNMENT 5.2</vt:lpstr>
      <vt:lpstr>GROUP 16 MEMBERS</vt:lpstr>
      <vt:lpstr>INTRODUCTION</vt:lpstr>
      <vt:lpstr>SECTION 1</vt:lpstr>
      <vt:lpstr>SECTION 2</vt:lpstr>
      <vt:lpstr>SECTION 3</vt:lpstr>
      <vt:lpstr>SECTION 4</vt:lpstr>
      <vt:lpstr>PowerPoint Presentation</vt:lpstr>
      <vt:lpstr>PowerPoint Presentation</vt:lpstr>
      <vt:lpstr>SECTION 5</vt:lpstr>
      <vt:lpstr>PowerPoint Presentation</vt:lpstr>
      <vt:lpstr>PowerPoint Presentation</vt:lpstr>
      <vt:lpstr>SECTION 6</vt:lpstr>
      <vt:lpstr>PowerPoint Presentation</vt:lpstr>
      <vt:lpstr>PowerPoint Presentation</vt:lpstr>
      <vt:lpstr>SECTION 7</vt:lpstr>
      <vt:lpstr>PowerPoint Presentation</vt:lpstr>
      <vt:lpstr>PowerPoint Presentation</vt:lpstr>
      <vt:lpstr>SECTION 8</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ASIGNMENT</dc:title>
  <dc:creator>sidenyak@gmail.com</dc:creator>
  <cp:lastModifiedBy>USER</cp:lastModifiedBy>
  <cp:revision>59</cp:revision>
  <dcterms:created xsi:type="dcterms:W3CDTF">2025-09-09T18:30:05Z</dcterms:created>
  <dcterms:modified xsi:type="dcterms:W3CDTF">2025-11-11T16:43:51Z</dcterms:modified>
</cp:coreProperties>
</file>